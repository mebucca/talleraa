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8" Type="http://schemas.openxmlformats.org/officeDocument/2006/relationships/viewProps" Target="viewProps.xml" /><Relationship Id="rId9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0" Type="http://schemas.openxmlformats.org/officeDocument/2006/relationships/tableStyles" Target="tableStyles.xml" /><Relationship Id="rId9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mebucca.github.io" TargetMode="External" /><Relationship Id="rId3" Type="http://schemas.openxmlformats.org/officeDocument/2006/relationships/hyperlink" Target="https://github.com/mebucca" TargetMode="External" /><Relationship Id="rId4" Type="http://schemas.openxmlformats.org/officeDocument/2006/relationships/hyperlink" Target="mailto:mebucca@gmail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Producción y Análisis de Datos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 importancia del workflow</a:t>
            </a:r>
            <a:br/>
            <a:br/>
            <a:r>
              <a:rPr/>
              <a:t>Mauricio Bucca · Sociología UC · DobleA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19 de mayo,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El problema</a:t>
            </a:r>
          </a:p>
          <a:p>
            <a:pPr lvl="0"/>
            <a:r>
              <a:rPr/>
              <a:t>Cómo se ve un proyecto mal organizado</a:t>
            </a:r>
          </a:p>
          <a:p>
            <a:pPr lvl="0"/>
            <a:r>
              <a:rPr/>
              <a:t>Por qué eso nos cuesta tiempo, errores y credibilidad</a:t>
            </a:r>
          </a:p>
          <a:p>
            <a:pPr lvl="0" indent="0" marL="0">
              <a:buNone/>
            </a:pPr>
            <a:r>
              <a:rPr b="1"/>
              <a:t>La solución</a:t>
            </a:r>
          </a:p>
          <a:p>
            <a:pPr lvl="0"/>
            <a:r>
              <a:rPr/>
              <a:t>Qué es un </a:t>
            </a:r>
            <a:r>
              <a:rPr i="1"/>
              <a:t>workflow</a:t>
            </a:r>
            <a:r>
              <a:rPr/>
              <a:t> y por qué importa más que la herramienta</a:t>
            </a:r>
          </a:p>
          <a:p>
            <a:pPr lvl="0"/>
            <a:r>
              <a:rPr/>
              <a:t>Cada herramienta resuelve </a:t>
            </a:r>
            <a:r>
              <a:rPr b="1"/>
              <a:t>un problema específico</a:t>
            </a:r>
            <a:r>
              <a:rPr/>
              <a:t> del mal workflow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El objetivo</a:t>
            </a:r>
          </a:p>
          <a:p>
            <a:pPr lvl="0" indent="0" marL="1270000">
              <a:buNone/>
            </a:pPr>
            <a:r>
              <a:rPr sz="2000" i="1"/>
              <a:t>Reproducir todos los resultados con un solo clic — o una línea de código.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Parte I · Lo que puede salir mal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El proyecto que todos hemos sufrido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Los 3 pecados capitales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Proyecto desordenado</a:t>
            </a:r>
            <a:r>
              <a:rPr/>
              <a:t> — archivos dispersos, sin convención ni estructura</a:t>
            </a:r>
          </a:p>
          <a:p>
            <a:pPr lvl="0" indent="-342900" marL="342900">
              <a:buAutoNum type="arabicPeriod"/>
            </a:pPr>
            <a:r>
              <a:rPr b="1"/>
              <a:t>Malas prácticas de coding</a:t>
            </a:r>
            <a:r>
              <a:rPr/>
              <a:t> — un solo script, rutas absolutas, sin comentarios, sin orden</a:t>
            </a:r>
          </a:p>
          <a:p>
            <a:pPr lvl="0" indent="-342900" marL="342900">
              <a:buAutoNum type="arabicPeriod"/>
            </a:pPr>
            <a:r>
              <a:rPr b="1"/>
              <a:t>Resultados producidos a mano</a:t>
            </a:r>
            <a:r>
              <a:rPr/>
              <a:t> — copiar-pegar números al Word, gráficos clic-a-clic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A lo largo de la sesión vamos a </a:t>
            </a:r>
            <a:r>
              <a:rPr b="1"/>
              <a:t>anclar cada herramienta a uno de estos problemas</a:t>
            </a:r>
            <a:r>
              <a:rPr/>
              <a:t>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Pecado #1 · Proyecto desordenado</a:t>
            </a:r>
          </a:p>
          <a:p>
            <a:pPr lvl="0" indent="0" marL="0">
              <a:buNone/>
            </a:pPr>
          </a:p>
          <a:p>
            <a:pPr lvl="0"/>
            <a:r>
              <a:rPr/>
              <a:t>No sé cuál archivo contiene los datos originales</a:t>
            </a:r>
          </a:p>
          <a:p>
            <a:pPr lvl="0"/>
            <a:r>
              <a:rPr/>
              <a:t>Cambio algo y </a:t>
            </a:r>
            <a:r>
              <a:rPr b="1"/>
              <a:t>no sé qué más deja de funcionar</a:t>
            </a:r>
          </a:p>
          <a:p>
            <a:pPr lvl="0"/>
            <a:r>
              <a:rPr/>
              <a:t>El jefe pregunta </a:t>
            </a:r>
            <a:r>
              <a:rPr i="1"/>
              <a:t>“¿puedes actualizar el reporte?”</a:t>
            </a:r>
            <a:r>
              <a:rPr/>
              <a:t>… y toma 2 horas, 2 días o 2 semanas!</a:t>
            </a:r>
          </a:p>
          <a:p>
            <a:pPr lvl="0"/>
            <a:r>
              <a:rPr/>
              <a:t>En 1 mes </a:t>
            </a:r>
            <a:r>
              <a:rPr b="1"/>
              <a:t>ni yo sé qué hice aquí</a:t>
            </a:r>
          </a:p>
          <a:p>
            <a:pPr lvl="0"/>
            <a:r>
              <a:rPr/>
              <a:t>Mi contraparte intenta reproducir mis resultados: </a:t>
            </a:r>
            <a:r>
              <a:rPr b="1"/>
              <a:t>no puede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🛠️ </a:t>
            </a:r>
            <a:r>
              <a:rPr b="1"/>
              <a:t>Lo resolveremos con:</a:t>
            </a:r>
            <a:r>
              <a:rPr/>
              <a:t> estructura de carpetas + GitHub + README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Pecado #2 · Malas prácticas de coding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 script de caos</a:t>
            </a:r>
          </a:p>
          <a:p>
            <a:pPr lvl="0" indent="0">
              <a:buNone/>
            </a:pPr>
            <a:r>
              <a:rPr>
                <a:solidFill>
                  <a:srgbClr val="61AFEF"/>
                </a:solidFill>
                <a:latin typeface="Courier"/>
              </a:rPr>
              <a:t>library</a:t>
            </a:r>
            <a:r>
              <a:rPr>
                <a:solidFill>
                  <a:srgbClr val="ABB2BF"/>
                </a:solidFill>
                <a:latin typeface="Courier"/>
              </a:rPr>
              <a:t>(tidyverse)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#library(dplyr)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datos 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read_csv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"/Users/juan/Desktop/proyecto final/datos clientes USAR ESTE v3.csv"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datos2 </a:t>
            </a:r>
            <a:r>
              <a:rPr>
                <a:solidFill>
                  <a:srgbClr val="27AE60"/>
                </a:solidFill>
                <a:latin typeface="Courier"/>
              </a:rPr>
              <a:t>=</a:t>
            </a:r>
            <a:r>
              <a:rPr>
                <a:solidFill>
                  <a:srgbClr val="ABB2BF"/>
                </a:solidFill>
                <a:latin typeface="Courier"/>
              </a:rPr>
              <a:t> datos[</a:t>
            </a:r>
            <a:r>
              <a:rPr>
                <a:solidFill>
                  <a:srgbClr val="56B6C2"/>
                </a:solidFill>
                <a:latin typeface="Courier"/>
              </a:rPr>
              <a:t>!</a:t>
            </a:r>
            <a:r>
              <a:rPr>
                <a:solidFill>
                  <a:srgbClr val="61AFEF"/>
                </a:solidFill>
                <a:latin typeface="Courier"/>
              </a:rPr>
              <a:t>is.na</a:t>
            </a:r>
            <a:r>
              <a:rPr>
                <a:solidFill>
                  <a:srgbClr val="ABB2BF"/>
                </a:solidFill>
                <a:latin typeface="Courier"/>
              </a:rPr>
              <a:t>(datos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nps),]</a:t>
            </a:r>
            <a:br/>
            <a:r>
              <a:rPr>
                <a:solidFill>
                  <a:srgbClr val="ABB2BF"/>
                </a:solidFill>
                <a:latin typeface="Courier"/>
              </a:rPr>
              <a:t>datos2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nps2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ifelse</a:t>
            </a:r>
            <a:r>
              <a:rPr>
                <a:solidFill>
                  <a:srgbClr val="ABB2BF"/>
                </a:solidFill>
                <a:latin typeface="Courier"/>
              </a:rPr>
              <a:t>(datos2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nps </a:t>
            </a:r>
            <a:r>
              <a:rPr>
                <a:solidFill>
                  <a:srgbClr val="56B6C2"/>
                </a:solidFill>
                <a:latin typeface="Courier"/>
              </a:rPr>
              <a:t>&gt;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D19A66"/>
                </a:solidFill>
                <a:latin typeface="Courier"/>
              </a:rPr>
              <a:t>50</a:t>
            </a:r>
            <a:r>
              <a:rPr>
                <a:solidFill>
                  <a:srgbClr val="ABB2BF"/>
                </a:solidFill>
                <a:latin typeface="Courier"/>
              </a:rPr>
              <a:t>, </a:t>
            </a:r>
            <a:r>
              <a:rPr>
                <a:solidFill>
                  <a:srgbClr val="98C379"/>
                </a:solidFill>
                <a:latin typeface="Courier"/>
              </a:rPr>
              <a:t>"Promotor"</a:t>
            </a:r>
            <a:r>
              <a:rPr>
                <a:solidFill>
                  <a:srgbClr val="ABB2BF"/>
                </a:solidFill>
                <a:latin typeface="Courier"/>
              </a:rPr>
              <a:t>,</a:t>
            </a:r>
            <a:r>
              <a:rPr>
                <a:solidFill>
                  <a:srgbClr val="98C379"/>
                </a:solidFill>
                <a:latin typeface="Courier"/>
              </a:rPr>
              <a:t>"otro"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metro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datos2[datos2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region</a:t>
            </a:r>
            <a:r>
              <a:rPr>
                <a:solidFill>
                  <a:srgbClr val="56B6C2"/>
                </a:solidFill>
                <a:latin typeface="Courier"/>
              </a:rPr>
              <a:t>==</a:t>
            </a:r>
            <a:r>
              <a:rPr>
                <a:solidFill>
                  <a:srgbClr val="98C379"/>
                </a:solidFill>
                <a:latin typeface="Courier"/>
              </a:rPr>
              <a:t>"Metropolitana"</a:t>
            </a:r>
            <a:r>
              <a:rPr>
                <a:solidFill>
                  <a:srgbClr val="ABB2BF"/>
                </a:solidFill>
                <a:latin typeface="Courier"/>
              </a:rPr>
              <a:t>,]</a:t>
            </a:r>
            <a:br/>
            <a:r>
              <a:rPr>
                <a:solidFill>
                  <a:srgbClr val="61AFEF"/>
                </a:solidFill>
                <a:latin typeface="Courier"/>
              </a:rPr>
              <a:t>mean</a:t>
            </a:r>
            <a:r>
              <a:rPr>
                <a:solidFill>
                  <a:srgbClr val="ABB2BF"/>
                </a:solidFill>
                <a:latin typeface="Courier"/>
              </a:rPr>
              <a:t>(metro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nps); </a:t>
            </a:r>
            <a:r>
              <a:rPr>
                <a:solidFill>
                  <a:srgbClr val="61AFEF"/>
                </a:solidFill>
                <a:latin typeface="Courier"/>
              </a:rPr>
              <a:t>sd</a:t>
            </a:r>
            <a:r>
              <a:rPr>
                <a:solidFill>
                  <a:srgbClr val="ABB2BF"/>
                </a:solidFill>
                <a:latin typeface="Courier"/>
              </a:rPr>
              <a:t>(metro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nps)</a:t>
            </a:r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valpo ← copiar-pegar 6 veces</a:t>
            </a:r>
            <a:br/>
            <a:r>
              <a:rPr>
                <a:solidFill>
                  <a:srgbClr val="ABB2BF"/>
                </a:solidFill>
                <a:latin typeface="Courier"/>
              </a:rPr>
              <a:t>Valpo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datos2[datos2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region </a:t>
            </a:r>
            <a:r>
              <a:rPr>
                <a:solidFill>
                  <a:srgbClr val="56B6C2"/>
                </a:solidFill>
                <a:latin typeface="Courier"/>
              </a:rPr>
              <a:t>==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98C379"/>
                </a:solidFill>
                <a:latin typeface="Courier"/>
              </a:rPr>
              <a:t>"Valparaíso"</a:t>
            </a:r>
            <a:r>
              <a:rPr>
                <a:solidFill>
                  <a:srgbClr val="ABB2BF"/>
                </a:solidFill>
                <a:latin typeface="Courier"/>
              </a:rPr>
              <a:t>,]</a:t>
            </a:r>
            <a:br/>
            <a:r>
              <a:rPr>
                <a:solidFill>
                  <a:srgbClr val="61AFEF"/>
                </a:solidFill>
                <a:latin typeface="Courier"/>
              </a:rPr>
              <a:t>mean</a:t>
            </a:r>
            <a:r>
              <a:rPr>
                <a:solidFill>
                  <a:srgbClr val="ABB2BF"/>
                </a:solidFill>
                <a:latin typeface="Courier"/>
              </a:rPr>
              <a:t>(Valpo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nps); </a:t>
            </a:r>
            <a:r>
              <a:rPr>
                <a:solidFill>
                  <a:srgbClr val="61AFEF"/>
                </a:solidFill>
                <a:latin typeface="Courier"/>
              </a:rPr>
              <a:t>sd</a:t>
            </a:r>
            <a:r>
              <a:rPr>
                <a:solidFill>
                  <a:srgbClr val="ABB2BF"/>
                </a:solidFill>
                <a:latin typeface="Courier"/>
              </a:rPr>
              <a:t>(Valpo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nps)</a:t>
            </a:r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OJO revisar esto</a:t>
            </a:r>
            <a:br/>
            <a:r>
              <a:rPr>
                <a:solidFill>
                  <a:srgbClr val="ABB2BF"/>
                </a:solidFill>
                <a:latin typeface="Courier"/>
              </a:rPr>
              <a:t>datos2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nps2 </a:t>
            </a:r>
            <a:r>
              <a:rPr>
                <a:solidFill>
                  <a:srgbClr val="27AE60"/>
                </a:solidFill>
                <a:latin typeface="Courier"/>
              </a:rPr>
              <a:t>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ifelse</a:t>
            </a:r>
            <a:r>
              <a:rPr>
                <a:solidFill>
                  <a:srgbClr val="ABB2BF"/>
                </a:solidFill>
                <a:latin typeface="Courier"/>
              </a:rPr>
              <a:t>(datos2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nps</a:t>
            </a:r>
            <a:r>
              <a:rPr>
                <a:solidFill>
                  <a:srgbClr val="56B6C2"/>
                </a:solidFill>
                <a:latin typeface="Courier"/>
              </a:rPr>
              <a:t>&gt;=</a:t>
            </a:r>
            <a:r>
              <a:rPr>
                <a:solidFill>
                  <a:srgbClr val="D19A66"/>
                </a:solidFill>
                <a:latin typeface="Courier"/>
              </a:rPr>
              <a:t>50</a:t>
            </a:r>
            <a:r>
              <a:rPr>
                <a:solidFill>
                  <a:srgbClr val="ABB2BF"/>
                </a:solidFill>
                <a:latin typeface="Courier"/>
              </a:rPr>
              <a:t>,</a:t>
            </a:r>
            <a:r>
              <a:rPr>
                <a:solidFill>
                  <a:srgbClr val="98C379"/>
                </a:solidFill>
                <a:latin typeface="Courier"/>
              </a:rPr>
              <a:t>"promotor"</a:t>
            </a:r>
            <a:r>
              <a:rPr>
                <a:solidFill>
                  <a:srgbClr val="ABB2BF"/>
                </a:solidFill>
                <a:latin typeface="Courier"/>
              </a:rPr>
              <a:t>,</a:t>
            </a:r>
            <a:r>
              <a:rPr>
                <a:solidFill>
                  <a:srgbClr val="98C379"/>
                </a:solidFill>
                <a:latin typeface="Courier"/>
              </a:rPr>
              <a:t>"Otro"</a:t>
            </a:r>
            <a:r>
              <a:rPr>
                <a:solidFill>
                  <a:srgbClr val="ABB2BF"/>
                </a:solidFill>
                <a:latin typeface="Courier"/>
              </a:rPr>
              <a:t>) </a:t>
            </a:r>
            <a:r>
              <a:rPr i="1">
                <a:solidFill>
                  <a:srgbClr val="5C6370"/>
                </a:solidFill>
                <a:latin typeface="Courier"/>
              </a:rPr>
              <a:t># ← pisa lo de arriba!!</a:t>
            </a:r>
            <a:br/>
            <a:br/>
            <a:r>
              <a:rPr>
                <a:solidFill>
                  <a:srgbClr val="61AFEF"/>
                </a:solidFill>
                <a:latin typeface="Courier"/>
              </a:rPr>
              <a:t>ggplot</a:t>
            </a:r>
            <a:r>
              <a:rPr>
                <a:solidFill>
                  <a:srgbClr val="ABB2BF"/>
                </a:solidFill>
                <a:latin typeface="Courier"/>
              </a:rPr>
              <a:t>(datos2,</a:t>
            </a:r>
            <a:r>
              <a:rPr>
                <a:solidFill>
                  <a:srgbClr val="61AFEF"/>
                </a:solidFill>
                <a:latin typeface="Courier"/>
              </a:rPr>
              <a:t>aes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C678DD"/>
                </a:solidFill>
                <a:latin typeface="Courier"/>
              </a:rPr>
              <a:t>x=</a:t>
            </a:r>
            <a:r>
              <a:rPr>
                <a:solidFill>
                  <a:srgbClr val="ABB2BF"/>
                </a:solidFill>
                <a:latin typeface="Courier"/>
              </a:rPr>
              <a:t>region,</a:t>
            </a:r>
            <a:r>
              <a:rPr>
                <a:solidFill>
                  <a:srgbClr val="C678DD"/>
                </a:solidFill>
                <a:latin typeface="Courier"/>
              </a:rPr>
              <a:t>y=</a:t>
            </a:r>
            <a:r>
              <a:rPr>
                <a:solidFill>
                  <a:srgbClr val="ABB2BF"/>
                </a:solidFill>
                <a:latin typeface="Courier"/>
              </a:rPr>
              <a:t>nps))</a:t>
            </a:r>
            <a:r>
              <a:rPr>
                <a:solidFill>
                  <a:srgbClr val="56B6C2"/>
                </a:solidFill>
                <a:latin typeface="Courier"/>
              </a:rPr>
              <a:t>+</a:t>
            </a:r>
            <a:r>
              <a:rPr>
                <a:solidFill>
                  <a:srgbClr val="61AFEF"/>
                </a:solidFill>
                <a:latin typeface="Courier"/>
              </a:rPr>
              <a:t>geom_boxplot</a:t>
            </a:r>
            <a:r>
              <a:rPr>
                <a:solidFill>
                  <a:srgbClr val="ABB2BF"/>
                </a:solidFill>
                <a:latin typeface="Courier"/>
              </a:rPr>
              <a:t>()</a:t>
            </a:r>
            <a:br/>
            <a:r>
              <a:rPr>
                <a:solidFill>
                  <a:srgbClr val="61AFEF"/>
                </a:solidFill>
                <a:latin typeface="Courier"/>
              </a:rPr>
              <a:t>lm</a:t>
            </a:r>
            <a:r>
              <a:rPr>
                <a:solidFill>
                  <a:srgbClr val="ABB2BF"/>
                </a:solidFill>
                <a:latin typeface="Courier"/>
              </a:rPr>
              <a:t>(nps</a:t>
            </a:r>
            <a:r>
              <a:rPr>
                <a:solidFill>
                  <a:srgbClr val="56B6C2"/>
                </a:solidFill>
                <a:latin typeface="Courier"/>
              </a:rPr>
              <a:t>~</a:t>
            </a:r>
            <a:r>
              <a:rPr>
                <a:solidFill>
                  <a:srgbClr val="ABB2BF"/>
                </a:solidFill>
                <a:latin typeface="Courier"/>
              </a:rPr>
              <a:t>satisfaccion,</a:t>
            </a:r>
            <a:r>
              <a:rPr>
                <a:solidFill>
                  <a:srgbClr val="C678DD"/>
                </a:solidFill>
                <a:latin typeface="Courier"/>
              </a:rPr>
              <a:t>data=</a:t>
            </a:r>
            <a:r>
              <a:rPr>
                <a:solidFill>
                  <a:srgbClr val="ABB2BF"/>
                </a:solidFill>
                <a:latin typeface="Courier"/>
              </a:rPr>
              <a:t>datos2)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🛠️ </a:t>
            </a:r>
            <a:r>
              <a:rPr b="1"/>
              <a:t>Lo resolveremos con:</a:t>
            </a:r>
            <a:r>
              <a:rPr/>
              <a:t> buenas prácticas de coding — sección 3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¿Cuántos problemas ves?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Ruta absoluta</a:t>
            </a:r>
            <a:r>
              <a:rPr/>
              <a:t> con espacios — falla en cualquier otro computador</a:t>
            </a:r>
          </a:p>
          <a:p>
            <a:pPr lvl="0" indent="-342900" marL="342900">
              <a:buAutoNum type="arabicPeriod"/>
            </a:pPr>
            <a:r>
              <a:rPr b="1"/>
              <a:t>Nombre de archivo</a:t>
            </a:r>
            <a:r>
              <a:rPr/>
              <a:t> </a:t>
            </a:r>
            <a:r>
              <a:rPr>
                <a:latin typeface="Courier"/>
              </a:rPr>
              <a:t>"USAR ESTE v3"</a:t>
            </a:r>
            <a:r>
              <a:rPr/>
              <a:t> en el código — sin control de versiones</a:t>
            </a:r>
          </a:p>
          <a:p>
            <a:pPr lvl="0" indent="-342900" marL="342900">
              <a:buAutoNum type="arabicPeriod"/>
            </a:pPr>
            <a:r>
              <a:rPr b="1"/>
              <a:t>Sin separación</a:t>
            </a:r>
            <a:r>
              <a:rPr/>
              <a:t> — limpieza + análisis + figura + modelo todo junto</a:t>
            </a:r>
          </a:p>
          <a:p>
            <a:pPr lvl="0" indent="-342900" marL="342900">
              <a:buAutoNum type="arabicPeriod"/>
            </a:pPr>
            <a:r>
              <a:rPr b="1"/>
              <a:t>Repetición manual</a:t>
            </a:r>
            <a:r>
              <a:rPr/>
              <a:t> de </a:t>
            </a:r>
            <a:r>
              <a:rPr>
                <a:latin typeface="Courier"/>
              </a:rPr>
              <a:t>mean()</a:t>
            </a:r>
            <a:r>
              <a:rPr/>
              <a:t> / </a:t>
            </a:r>
            <a:r>
              <a:rPr>
                <a:latin typeface="Courier"/>
              </a:rPr>
              <a:t>sd()</a:t>
            </a:r>
            <a:r>
              <a:rPr/>
              <a:t> para cada región</a:t>
            </a:r>
          </a:p>
          <a:p>
            <a:pPr lvl="0" indent="-342900" marL="342900">
              <a:buAutoNum type="arabicPeriod"/>
            </a:pPr>
            <a:r>
              <a:rPr b="1"/>
              <a:t>La figura no se guarda</a:t>
            </a:r>
            <a:r>
              <a:rPr/>
              <a:t> — desaparece cuando cierras R</a:t>
            </a:r>
          </a:p>
          <a:p>
            <a:pPr lvl="0" indent="-342900" marL="342900">
              <a:buAutoNum type="arabicPeriod"/>
            </a:pPr>
            <a:r>
              <a:rPr b="1"/>
              <a:t>El modelo se imprime</a:t>
            </a:r>
            <a:r>
              <a:rPr/>
              <a:t> pero no se guarda ni se exporta</a:t>
            </a:r>
          </a:p>
          <a:p>
            <a:pPr lvl="0" indent="-342900" marL="342900">
              <a:buAutoNum type="arabicPeriod"/>
            </a:pPr>
            <a:r>
              <a:rPr b="1"/>
              <a:t>Sin mensajes de progreso</a:t>
            </a:r>
            <a:r>
              <a:rPr/>
              <a:t> — no sé si el script terminó o se colgó a mitad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Pecado #3 · Resultados producidos a mano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Dos problemas distintos, igual de graves:</a:t>
            </a:r>
          </a:p>
          <a:p>
            <a:pPr lvl="0" indent="-342900" marL="342900">
              <a:buAutoNum type="arabicPeriod"/>
            </a:pPr>
            <a:r>
              <a:rPr b="1"/>
              <a:t>Propenso a errores</a:t>
            </a:r>
            <a:r>
              <a:rPr/>
              <a:t> — copiar un número mal, actualizar solo algunas celdas, una fórmula que referencia la columna equivocada</a:t>
            </a:r>
          </a:p>
          <a:p>
            <a:pPr lvl="0" indent="-342900" marL="342900">
              <a:buAutoNum type="arabicPeriod"/>
            </a:pPr>
            <a:r>
              <a:rPr b="1"/>
              <a:t>No escala</a:t>
            </a:r>
            <a:r>
              <a:rPr/>
              <a:t> — si el análisis aplica a 6 regiones, tienes que repetir cada paso 6 veces a mano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Propenso a errores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Reinhart &amp; Rogoff (2010):</a:t>
            </a:r>
            <a:r>
              <a:rPr/>
              <a:t> un error en una fórmula de Excel cambió los resultados de un paper que justificó políticas de austeridad en media Europa. El error existió por años sin que nadie lo detectara.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 escalable</a:t>
            </a:r>
          </a:p>
          <a:p>
            <a:pPr lvl="0" indent="0" marL="0">
              <a:buNone/>
            </a:pP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La situación típica:</a:t>
            </a:r>
            <a:r>
              <a:rPr sz="2000"/>
              <a:t> el cliente opera en 6 regiones y quiere un reporte por región. Los datos se actualizan cada mes.</a:t>
            </a:r>
          </a:p>
          <a:p>
            <a:pPr lvl="0" indent="0" marL="0">
              <a:buNone/>
            </a:pP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Enfoque manual</a:t>
            </a:r>
          </a:p>
          <a:p>
            <a:pPr lvl="0" indent="0">
              <a:buNone/>
            </a:pPr>
            <a:r>
              <a:rPr>
                <a:latin typeface="Courier"/>
              </a:rPr>
              <a:t>1. Filtra la hoja por "Metropolitana"
2. Copia las tablas al Word
3. Actualiza los gráficos a mano
4. Repite para Valparaíso
5. Repite para Biobío
6. Repite para las 3 regiones restantes
→ 6 archivos Word distintos
→ Números copiados a mano
→ El mes siguiente: desde cero
→ Garantía: habrá errores y será lento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Parte II · Principios de un workflow efectivo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¿Qué es el </a:t>
            </a:r>
            <a:r>
              <a:rPr b="1" i="1"/>
              <a:t>workflow</a:t>
            </a:r>
            <a:r>
              <a:rPr b="1"/>
              <a:t>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Un </a:t>
            </a:r>
            <a:r>
              <a:rPr b="1"/>
              <a:t>workflow</a:t>
            </a:r>
            <a:r>
              <a:rPr/>
              <a:t> es el flujo de producción de un análisis: el camino que va desde los datos crudos hasta el reporte final.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El objetivo</a:t>
            </a:r>
          </a:p>
          <a:p>
            <a:pPr lvl="0" indent="0" marL="0">
              <a:buNone/>
            </a:pPr>
          </a:p>
          <a:p>
            <a:pPr lvl="0" indent="0" marL="1270000">
              <a:buNone/>
            </a:pPr>
            <a:r>
              <a:rPr sz="2000" i="1"/>
              <a:t>Si mi workflow es efectivo, puedo replicar todos mis resultados —figuras, tablas, informes— con un solo clic o una línea de código.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Esto requiere:</a:t>
            </a:r>
          </a:p>
          <a:p>
            <a:pPr lvl="0" indent="-342900" marL="342900">
              <a:buAutoNum type="arabicPeriod"/>
            </a:pPr>
            <a:r>
              <a:rPr b="1"/>
              <a:t>Estructura predecible</a:t>
            </a:r>
          </a:p>
          <a:p>
            <a:pPr lvl="0" indent="-342900" marL="342900">
              <a:buAutoNum type="arabicPeriod"/>
            </a:pPr>
            <a:r>
              <a:rPr b="1"/>
              <a:t>Datos crudos intocables</a:t>
            </a:r>
          </a:p>
          <a:p>
            <a:pPr lvl="0" indent="-342900" marL="342900">
              <a:buAutoNum type="arabicPeriod"/>
            </a:pPr>
            <a:r>
              <a:rPr b="1"/>
              <a:t>Outputs siempre por código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Principio #1 · Estructura predecible</a:t>
            </a:r>
          </a:p>
          <a:p>
            <a:pPr lvl="0" indent="0" marL="0">
              <a:buNone/>
            </a:pP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🩺 Problema que resuelve:</a:t>
            </a:r>
            <a:r>
              <a:rPr sz="2000"/>
              <a:t> </a:t>
            </a:r>
            <a:r>
              <a:rPr sz="2000" i="1"/>
              <a:t>“¿cuál archivo era el bueno?”</a:t>
            </a:r>
            <a:r>
              <a:rPr sz="2000"/>
              <a:t>, </a:t>
            </a:r>
            <a:r>
              <a:rPr sz="2000" i="1"/>
              <a:t>“¿dónde está el dato?”</a:t>
            </a:r>
            <a:r>
              <a:rPr sz="2000"/>
              <a:t>, </a:t>
            </a:r>
            <a:r>
              <a:rPr sz="2000" i="1"/>
              <a:t>“¿qué hace este script?”</a:t>
            </a:r>
          </a:p>
          <a:p>
            <a:pPr lvl="0" indent="0">
              <a:buNone/>
            </a:pPr>
            <a:r>
              <a:rPr>
                <a:latin typeface="Courier"/>
              </a:rPr>
              <a:t>📁 estudio_satisfaccion_2025/
│
├── data/
│   ├── raw/                  ← datos del cliente · NUNCA se modifican
│   └── clean/                ← output de los scripts de limpieza
│
├── code/
│   ├── 01_clean.R            ← pipeline de limpieza
│   ├── 02_analysis.R         ← análisis y modelos
│   └── 03_figures.R          ← generación de gráficos
│
├── output/
│   ├── figures/              ← .png, .pdf
│   └── tables/               ← .csv para reportes
│
├── docs/
│   └── reporte.qmd           ← documento maestro
│
└── README.md                 ← documentación del proyecto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Mismo patrón en cada proyecto → cero tiempo perdido orientándose.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Principio #2 · Raw vs Clean</a:t>
            </a:r>
          </a:p>
          <a:p>
            <a:pPr lvl="0" indent="0" marL="0">
              <a:buNone/>
            </a:pP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🩺 Problema que resuelve:</a:t>
            </a:r>
            <a:r>
              <a:rPr sz="2000"/>
              <a:t> </a:t>
            </a:r>
            <a:r>
              <a:rPr sz="2000" i="1"/>
              <a:t>“¿qué le hicieron a estos datos?”</a:t>
            </a:r>
            <a:r>
              <a:rPr sz="2000"/>
              <a:t>, </a:t>
            </a:r>
            <a:r>
              <a:rPr sz="2000" i="1"/>
              <a:t>“¿por qué la suma cambió?”</a:t>
            </a:r>
          </a:p>
          <a:p>
            <a:pPr lvl="0" indent="0" marL="0">
              <a:buNone/>
            </a:pP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✅ El flujo correcto</a:t>
            </a:r>
          </a:p>
          <a:p>
            <a:pPr lvl="0" indent="0">
              <a:buNone/>
            </a:pPr>
            <a:r>
              <a:rPr i="1">
                <a:solidFill>
                  <a:srgbClr val="5C6370"/>
                </a:solidFill>
                <a:latin typeface="Courier"/>
              </a:rPr>
              <a:t># 01_clean.R</a:t>
            </a:r>
            <a:br/>
            <a:r>
              <a:rPr>
                <a:solidFill>
                  <a:srgbClr val="ABB2BF"/>
                </a:solidFill>
                <a:latin typeface="Courier"/>
              </a:rPr>
              <a:t>raw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read_csv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"data/raw/clientes.csv"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clean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raw </a:t>
            </a:r>
            <a:r>
              <a:rPr>
                <a:solidFill>
                  <a:srgbClr val="56B6C2"/>
                </a:solidFill>
                <a:latin typeface="Courier"/>
              </a:rPr>
              <a:t>|&gt;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filter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56B6C2"/>
                </a:solidFill>
                <a:latin typeface="Courier"/>
              </a:rPr>
              <a:t>!</a:t>
            </a:r>
            <a:r>
              <a:rPr>
                <a:solidFill>
                  <a:srgbClr val="61AFEF"/>
                </a:solidFill>
                <a:latin typeface="Courier"/>
              </a:rPr>
              <a:t>is.na</a:t>
            </a:r>
            <a:r>
              <a:rPr>
                <a:solidFill>
                  <a:srgbClr val="ABB2BF"/>
                </a:solidFill>
                <a:latin typeface="Courier"/>
              </a:rPr>
              <a:t>(nps)) </a:t>
            </a:r>
            <a:r>
              <a:rPr>
                <a:solidFill>
                  <a:srgbClr val="56B6C2"/>
                </a:solidFill>
                <a:latin typeface="Courier"/>
              </a:rPr>
              <a:t>|&gt;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mutate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</a:t>
            </a:r>
            <a:r>
              <a:rPr>
                <a:solidFill>
                  <a:srgbClr val="C678DD"/>
                </a:solidFill>
                <a:latin typeface="Courier"/>
              </a:rPr>
              <a:t>nps_grupo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case_when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  nps </a:t>
            </a:r>
            <a:r>
              <a:rPr>
                <a:solidFill>
                  <a:srgbClr val="56B6C2"/>
                </a:solidFill>
                <a:latin typeface="Courier"/>
              </a:rPr>
              <a:t>&lt;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D19A66"/>
                </a:solidFill>
                <a:latin typeface="Courier"/>
              </a:rPr>
              <a:t>0</a:t>
            </a:r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56B6C2"/>
                </a:solidFill>
                <a:latin typeface="Courier"/>
              </a:rPr>
              <a:t>~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98C379"/>
                </a:solidFill>
                <a:latin typeface="Courier"/>
              </a:rPr>
              <a:t>"Detractor"</a:t>
            </a:r>
            <a:r>
              <a:rPr>
                <a:solidFill>
                  <a:srgbClr val="ABB2BF"/>
                </a:solidFill>
                <a:latin typeface="Courier"/>
              </a:rPr>
              <a:t>,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  nps </a:t>
            </a:r>
            <a:r>
              <a:rPr>
                <a:solidFill>
                  <a:srgbClr val="56B6C2"/>
                </a:solidFill>
                <a:latin typeface="Courier"/>
              </a:rPr>
              <a:t>&lt;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D19A66"/>
                </a:solidFill>
                <a:latin typeface="Courier"/>
              </a:rPr>
              <a:t>50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56B6C2"/>
                </a:solidFill>
                <a:latin typeface="Courier"/>
              </a:rPr>
              <a:t>~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98C379"/>
                </a:solidFill>
                <a:latin typeface="Courier"/>
              </a:rPr>
              <a:t>"Pasivo"</a:t>
            </a:r>
            <a:r>
              <a:rPr>
                <a:solidFill>
                  <a:srgbClr val="ABB2BF"/>
                </a:solidFill>
                <a:latin typeface="Courier"/>
              </a:rPr>
              <a:t>,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  </a:t>
            </a:r>
            <a:r>
              <a:rPr>
                <a:solidFill>
                  <a:srgbClr val="D19A66"/>
                </a:solidFill>
                <a:latin typeface="Courier"/>
              </a:rPr>
              <a:t>TRUE</a:t>
            </a:r>
            <a:r>
              <a:rPr>
                <a:solidFill>
                  <a:srgbClr val="ABB2BF"/>
                </a:solidFill>
                <a:latin typeface="Courier"/>
              </a:rPr>
              <a:t>     </a:t>
            </a:r>
            <a:r>
              <a:rPr>
                <a:solidFill>
                  <a:srgbClr val="56B6C2"/>
                </a:solidFill>
                <a:latin typeface="Courier"/>
              </a:rPr>
              <a:t>~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98C379"/>
                </a:solidFill>
                <a:latin typeface="Courier"/>
              </a:rPr>
              <a:t>"Promotor"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61AFEF"/>
                </a:solidFill>
                <a:latin typeface="Courier"/>
              </a:rPr>
              <a:t>write_csv</a:t>
            </a:r>
            <a:r>
              <a:rPr>
                <a:solidFill>
                  <a:srgbClr val="ABB2BF"/>
                </a:solidFill>
                <a:latin typeface="Courier"/>
              </a:rPr>
              <a:t>(clean, </a:t>
            </a:r>
            <a:r>
              <a:rPr>
                <a:solidFill>
                  <a:srgbClr val="98C379"/>
                </a:solidFill>
                <a:latin typeface="Courier"/>
              </a:rPr>
              <a:t>"data/clean/clientes.csv"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Principio #3 · Outputs por código</a:t>
            </a:r>
          </a:p>
          <a:p>
            <a:pPr lvl="0" indent="0" marL="0">
              <a:buNone/>
            </a:pP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🩺 Problema que resuelve:</a:t>
            </a:r>
            <a:r>
              <a:rPr sz="2000"/>
              <a:t> </a:t>
            </a:r>
            <a:r>
              <a:rPr sz="2000" i="1"/>
              <a:t>“actualiza el reporte con los nuevos datos”</a:t>
            </a:r>
            <a:r>
              <a:rPr sz="2000"/>
              <a:t> → 2 horas de copiar-pegar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Cada gráfico, tabla, número que aparece en el reporte final debe poder </a:t>
            </a:r>
            <a:r>
              <a:rPr b="1"/>
              <a:t>regenerarse corriendo un script</a:t>
            </a:r>
            <a:r>
              <a:rPr/>
              <a:t>.</a:t>
            </a:r>
          </a:p>
          <a:p>
            <a:pPr lvl="0" indent="0">
              <a:buNone/>
            </a:pPr>
            <a:r>
              <a:rPr i="1">
                <a:solidFill>
                  <a:srgbClr val="5C6370"/>
                </a:solidFill>
                <a:latin typeface="Courier"/>
              </a:rPr>
              <a:t># Corre el pipeline completo</a:t>
            </a:r>
            <a:br/>
            <a:r>
              <a:rPr>
                <a:solidFill>
                  <a:srgbClr val="61AFEF"/>
                </a:solidFill>
                <a:latin typeface="Courier"/>
              </a:rPr>
              <a:t>source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"0_masterfile.R"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Genera la figura</a:t>
            </a:r>
            <a:br/>
            <a:r>
              <a:rPr>
                <a:solidFill>
                  <a:srgbClr val="61AFEF"/>
                </a:solidFill>
                <a:latin typeface="Courier"/>
              </a:rPr>
              <a:t>ggsave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"output/figures/nps_region.png"</a:t>
            </a:r>
            <a:r>
              <a:rPr>
                <a:solidFill>
                  <a:srgbClr val="ABB2BF"/>
                </a:solidFill>
                <a:latin typeface="Courier"/>
              </a:rPr>
              <a:t>, </a:t>
            </a:r>
            <a:r>
              <a:rPr>
                <a:solidFill>
                  <a:srgbClr val="C678DD"/>
                </a:solidFill>
                <a:latin typeface="Courier"/>
              </a:rPr>
              <a:t>plot =</a:t>
            </a:r>
            <a:r>
              <a:rPr>
                <a:solidFill>
                  <a:srgbClr val="ABB2BF"/>
                </a:solidFill>
                <a:latin typeface="Courier"/>
              </a:rPr>
              <a:t> p, </a:t>
            </a:r>
            <a:r>
              <a:rPr>
                <a:solidFill>
                  <a:srgbClr val="C678DD"/>
                </a:solidFill>
                <a:latin typeface="Courier"/>
              </a:rPr>
              <a:t>width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D19A66"/>
                </a:solidFill>
                <a:latin typeface="Courier"/>
              </a:rPr>
              <a:t>8</a:t>
            </a:r>
            <a:r>
              <a:rPr>
                <a:solidFill>
                  <a:srgbClr val="ABB2BF"/>
                </a:solidFill>
                <a:latin typeface="Courier"/>
              </a:rPr>
              <a:t>, </a:t>
            </a:r>
            <a:r>
              <a:rPr>
                <a:solidFill>
                  <a:srgbClr val="C678DD"/>
                </a:solidFill>
                <a:latin typeface="Courier"/>
              </a:rPr>
              <a:t>height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D19A66"/>
                </a:solidFill>
                <a:latin typeface="Courier"/>
              </a:rPr>
              <a:t>5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Genera la tabla</a:t>
            </a:r>
            <a:br/>
            <a:r>
              <a:rPr>
                <a:solidFill>
                  <a:srgbClr val="61AFEF"/>
                </a:solidFill>
                <a:latin typeface="Courier"/>
              </a:rPr>
              <a:t>write_csv</a:t>
            </a:r>
            <a:r>
              <a:rPr>
                <a:solidFill>
                  <a:srgbClr val="ABB2BF"/>
                </a:solidFill>
                <a:latin typeface="Courier"/>
              </a:rPr>
              <a:t>(resumen_regional, </a:t>
            </a:r>
            <a:r>
              <a:rPr>
                <a:solidFill>
                  <a:srgbClr val="98C379"/>
                </a:solidFill>
                <a:latin typeface="Courier"/>
              </a:rPr>
              <a:t>"output/tables/resumen_regional.csv"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Genera el reporte completo</a:t>
            </a:r>
            <a:br/>
            <a:r>
              <a:rPr>
                <a:solidFill>
                  <a:srgbClr val="ABB2BF"/>
                </a:solidFill>
                <a:latin typeface="Courier"/>
              </a:rPr>
              <a:t>quarto</a:t>
            </a:r>
            <a:r>
              <a:rPr>
                <a:solidFill>
                  <a:srgbClr val="56B6C2"/>
                </a:solidFill>
                <a:latin typeface="Courier"/>
              </a:rPr>
              <a:t>::</a:t>
            </a:r>
            <a:r>
              <a:rPr>
                <a:solidFill>
                  <a:srgbClr val="61AFEF"/>
                </a:solidFill>
                <a:latin typeface="Courier"/>
              </a:rPr>
              <a:t>quarto_render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"docs/reporte.qmd"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Parte III · Herramientas y buenas prácticas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Resumen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Problema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Herramienta / práctica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Proyecto desordenado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Estructura de carpetas predecible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 sé qué cambió ni cuándo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GitHub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Nadie entiende mi proyecto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README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Datos sucios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Tidy data + script </a:t>
                      </a:r>
                      <a:r>
                        <a:rPr>
                          <a:latin typeface="Courier"/>
                        </a:rPr>
                        <a:t>01_clean.R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Repetición manual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Iteración (</a:t>
                      </a:r>
                      <a:r>
                        <a:rPr>
                          <a:latin typeface="Courier"/>
                        </a:rPr>
                        <a:t>for</a:t>
                      </a:r>
                      <a:r>
                        <a:rPr/>
                        <a:t> loops)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“Actualizá el reporte” toma 2 horas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Quarto + parámetros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Necesito ayuda con código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IA integrada al pipeline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Buenas prácticas de coding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Práctica #1 · El masterfile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🩺 Problema que resuelve:</a:t>
            </a:r>
            <a:r>
              <a:rPr sz="2000"/>
              <a:t> </a:t>
            </a:r>
            <a:r>
              <a:rPr sz="2000" i="1"/>
              <a:t>“¿en qué orden corro los scripts?”</a:t>
            </a:r>
            <a:r>
              <a:rPr sz="2000"/>
              <a:t>, </a:t>
            </a:r>
            <a:r>
              <a:rPr sz="2000" i="1"/>
              <a:t>“¿cuál era el punto de entrada?”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Un </a:t>
            </a:r>
            <a:r>
              <a:rPr b="1"/>
              <a:t>masterfile</a:t>
            </a:r>
            <a:r>
              <a:rPr/>
              <a:t> (</a:t>
            </a:r>
            <a:r>
              <a:rPr>
                <a:latin typeface="Courier"/>
              </a:rPr>
              <a:t>1_masterfile.R</a:t>
            </a:r>
            <a:r>
              <a:rPr/>
              <a:t>) es el único archivo que se corre directamente. Llama a todos los demás en orden:</a:t>
            </a:r>
          </a:p>
          <a:p>
            <a:pPr lvl="0" indent="0">
              <a:buNone/>
            </a:pPr>
            <a:r>
              <a:rPr i="1">
                <a:solidFill>
                  <a:srgbClr val="5C6370"/>
                </a:solidFill>
                <a:latin typeface="Courier"/>
              </a:rPr>
              <a:t># 1. Limpiar el entorno</a:t>
            </a:r>
            <a:br/>
            <a:r>
              <a:rPr>
                <a:solidFill>
                  <a:srgbClr val="61AFEF"/>
                </a:solidFill>
                <a:latin typeface="Courier"/>
              </a:rPr>
              <a:t>cat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</a:t>
            </a:r>
            <a:r>
              <a:rPr>
                <a:solidFill>
                  <a:srgbClr val="56B6C2"/>
                </a:solidFill>
                <a:latin typeface="Courier"/>
              </a:rPr>
              <a:t>\014</a:t>
            </a:r>
            <a:r>
              <a:rPr>
                <a:solidFill>
                  <a:srgbClr val="98C379"/>
                </a:solidFill>
                <a:latin typeface="Courier"/>
              </a:rPr>
              <a:t>"</a:t>
            </a:r>
            <a:r>
              <a:rPr>
                <a:solidFill>
                  <a:srgbClr val="ABB2BF"/>
                </a:solidFill>
                <a:latin typeface="Courier"/>
              </a:rPr>
              <a:t>); </a:t>
            </a:r>
            <a:r>
              <a:rPr>
                <a:solidFill>
                  <a:srgbClr val="61AFEF"/>
                </a:solidFill>
                <a:latin typeface="Courier"/>
              </a:rPr>
              <a:t>rm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C678DD"/>
                </a:solidFill>
                <a:latin typeface="Courier"/>
              </a:rPr>
              <a:t>list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ls</a:t>
            </a:r>
            <a:r>
              <a:rPr>
                <a:solidFill>
                  <a:srgbClr val="ABB2BF"/>
                </a:solidFill>
                <a:latin typeface="Courier"/>
              </a:rPr>
              <a:t>())</a:t>
            </a:r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2. Cargar packages</a:t>
            </a:r>
            <a:br/>
            <a:r>
              <a:rPr>
                <a:solidFill>
                  <a:srgbClr val="61AFEF"/>
                </a:solidFill>
                <a:latin typeface="Courier"/>
              </a:rPr>
              <a:t>library</a:t>
            </a:r>
            <a:r>
              <a:rPr>
                <a:solidFill>
                  <a:srgbClr val="ABB2BF"/>
                </a:solidFill>
                <a:latin typeface="Courier"/>
              </a:rPr>
              <a:t>(pacman)</a:t>
            </a:r>
            <a:br/>
            <a:r>
              <a:rPr>
                <a:solidFill>
                  <a:srgbClr val="61AFEF"/>
                </a:solidFill>
                <a:latin typeface="Courier"/>
              </a:rPr>
              <a:t>p_load</a:t>
            </a:r>
            <a:r>
              <a:rPr>
                <a:solidFill>
                  <a:srgbClr val="ABB2BF"/>
                </a:solidFill>
                <a:latin typeface="Courier"/>
              </a:rPr>
              <a:t>(tidyverse, knitr, stargazer)</a:t>
            </a:r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3. Definir directorios (solo aquí, una vez)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folder    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98C379"/>
                </a:solidFill>
                <a:latin typeface="Courier"/>
              </a:rPr>
              <a:t>"/Users/bucca/proyecto_nps/"</a:t>
            </a:r>
            <a:br/>
            <a:r>
              <a:rPr>
                <a:solidFill>
                  <a:srgbClr val="ABB2BF"/>
                </a:solidFill>
                <a:latin typeface="Courier"/>
              </a:rPr>
              <a:t>dircode   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paste0</a:t>
            </a:r>
            <a:r>
              <a:rPr>
                <a:solidFill>
                  <a:srgbClr val="ABB2BF"/>
                </a:solidFill>
                <a:latin typeface="Courier"/>
              </a:rPr>
              <a:t>(folder, </a:t>
            </a:r>
            <a:r>
              <a:rPr>
                <a:solidFill>
                  <a:srgbClr val="98C379"/>
                </a:solidFill>
                <a:latin typeface="Courier"/>
              </a:rPr>
              <a:t>"code/"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dirdata   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paste0</a:t>
            </a:r>
            <a:r>
              <a:rPr>
                <a:solidFill>
                  <a:srgbClr val="ABB2BF"/>
                </a:solidFill>
                <a:latin typeface="Courier"/>
              </a:rPr>
              <a:t>(folder, </a:t>
            </a:r>
            <a:r>
              <a:rPr>
                <a:solidFill>
                  <a:srgbClr val="98C379"/>
                </a:solidFill>
                <a:latin typeface="Courier"/>
              </a:rPr>
              <a:t>"data/"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dirresults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paste0</a:t>
            </a:r>
            <a:r>
              <a:rPr>
                <a:solidFill>
                  <a:srgbClr val="ABB2BF"/>
                </a:solidFill>
                <a:latin typeface="Courier"/>
              </a:rPr>
              <a:t>(folder, </a:t>
            </a:r>
            <a:r>
              <a:rPr>
                <a:solidFill>
                  <a:srgbClr val="98C379"/>
                </a:solidFill>
                <a:latin typeface="Courier"/>
              </a:rPr>
              <a:t>"results/"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4. Correr el pipeline en orden</a:t>
            </a:r>
            <a:br/>
            <a:r>
              <a:rPr>
                <a:solidFill>
                  <a:srgbClr val="61AFEF"/>
                </a:solidFill>
                <a:latin typeface="Courier"/>
              </a:rPr>
              <a:t>source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61AFEF"/>
                </a:solidFill>
                <a:latin typeface="Courier"/>
              </a:rPr>
              <a:t>paste0</a:t>
            </a:r>
            <a:r>
              <a:rPr>
                <a:solidFill>
                  <a:srgbClr val="ABB2BF"/>
                </a:solidFill>
                <a:latin typeface="Courier"/>
              </a:rPr>
              <a:t>(dircode, </a:t>
            </a:r>
            <a:r>
              <a:rPr>
                <a:solidFill>
                  <a:srgbClr val="98C379"/>
                </a:solidFill>
                <a:latin typeface="Courier"/>
              </a:rPr>
              <a:t>"2_exploration.R"</a:t>
            </a:r>
            <a:r>
              <a:rPr>
                <a:solidFill>
                  <a:srgbClr val="ABB2BF"/>
                </a:solidFill>
                <a:latin typeface="Courier"/>
              </a:rPr>
              <a:t>))</a:t>
            </a:r>
            <a:br/>
            <a:r>
              <a:rPr>
                <a:solidFill>
                  <a:srgbClr val="61AFEF"/>
                </a:solidFill>
                <a:latin typeface="Courier"/>
              </a:rPr>
              <a:t>source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61AFEF"/>
                </a:solidFill>
                <a:latin typeface="Courier"/>
              </a:rPr>
              <a:t>paste0</a:t>
            </a:r>
            <a:r>
              <a:rPr>
                <a:solidFill>
                  <a:srgbClr val="ABB2BF"/>
                </a:solidFill>
                <a:latin typeface="Courier"/>
              </a:rPr>
              <a:t>(dircode, </a:t>
            </a:r>
            <a:r>
              <a:rPr>
                <a:solidFill>
                  <a:srgbClr val="98C379"/>
                </a:solidFill>
                <a:latin typeface="Courier"/>
              </a:rPr>
              <a:t>"3_recoding.R"</a:t>
            </a:r>
            <a:r>
              <a:rPr>
                <a:solidFill>
                  <a:srgbClr val="ABB2BF"/>
                </a:solidFill>
                <a:latin typeface="Courier"/>
              </a:rPr>
              <a:t>))</a:t>
            </a:r>
            <a:br/>
            <a:r>
              <a:rPr>
                <a:solidFill>
                  <a:srgbClr val="61AFEF"/>
                </a:solidFill>
                <a:latin typeface="Courier"/>
              </a:rPr>
              <a:t>source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61AFEF"/>
                </a:solidFill>
                <a:latin typeface="Courier"/>
              </a:rPr>
              <a:t>paste0</a:t>
            </a:r>
            <a:r>
              <a:rPr>
                <a:solidFill>
                  <a:srgbClr val="ABB2BF"/>
                </a:solidFill>
                <a:latin typeface="Courier"/>
              </a:rPr>
              <a:t>(dircode, </a:t>
            </a:r>
            <a:r>
              <a:rPr>
                <a:solidFill>
                  <a:srgbClr val="98C379"/>
                </a:solidFill>
                <a:latin typeface="Courier"/>
              </a:rPr>
              <a:t>"4_analyses.R"</a:t>
            </a:r>
            <a:r>
              <a:rPr>
                <a:solidFill>
                  <a:srgbClr val="ABB2BF"/>
                </a:solidFill>
                <a:latin typeface="Courier"/>
              </a:rPr>
              <a:t>))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Práctica #2 · Scripts numerados, responsabilidad única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🩺 Problema que resuelve:</a:t>
            </a:r>
            <a:r>
              <a:rPr sz="2000"/>
              <a:t> </a:t>
            </a:r>
            <a:r>
              <a:rPr sz="2000" i="1"/>
              <a:t>“¿dónde estaba la limpieza?”</a:t>
            </a:r>
            <a:r>
              <a:rPr sz="2000"/>
              <a:t>, </a:t>
            </a:r>
            <a:r>
              <a:rPr sz="2000" i="1"/>
              <a:t>“¿qué hace este script?”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code/
├── 1_masterfile.R      ← llama a todos los demás
├── 2_exploration.R     ← solo exploración
├── 3_recoding.R        ← solo recodificación
├── 4_analyses.R        ← solo análisis y outputs globales
└── 5_analyses_bysucursal.R ← análisis por subgrupo</a:t>
            </a:r>
          </a:p>
          <a:p>
            <a:pPr lvl="0" indent="0" marL="0">
              <a:buNone/>
            </a:pPr>
            <a:r>
              <a:rPr/>
              <a:t>Cada script hace </a:t>
            </a:r>
            <a:r>
              <a:rPr b="1"/>
              <a:t>una sola cosa</a:t>
            </a:r>
            <a:r>
              <a:rPr/>
              <a:t>. Los números indican el </a:t>
            </a:r>
            <a:r>
              <a:rPr b="1"/>
              <a:t>orden de ejecución</a:t>
            </a:r>
            <a:r>
              <a:rPr/>
              <a:t>.</a:t>
            </a:r>
          </a:p>
          <a:p>
            <a:pPr lvl="0"/>
            <a:r>
              <a:rPr/>
              <a:t>Si algo falla en el análisis, sabes que el problema está en </a:t>
            </a:r>
            <a:r>
              <a:rPr>
                <a:latin typeface="Courier"/>
              </a:rPr>
              <a:t>4_analyses.R</a:t>
            </a:r>
          </a:p>
          <a:p>
            <a:pPr lvl="0"/>
            <a:r>
              <a:rPr/>
              <a:t>Si quieres cambiar una recodificación, vas directo a </a:t>
            </a:r>
            <a:r>
              <a:rPr>
                <a:latin typeface="Courier"/>
              </a:rPr>
              <a:t>3_recoding.R</a:t>
            </a:r>
          </a:p>
          <a:p>
            <a:pPr lvl="0"/>
            <a:r>
              <a:rPr/>
              <a:t>Nadie tiene que leer 500 líneas para encontrar dónde se filtra algo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Práctica #3 · Directorios al inicio, rutas relativas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🩺 Problema que resuelve:</a:t>
            </a:r>
            <a:r>
              <a:rPr sz="2000"/>
              <a:t> </a:t>
            </a:r>
            <a:r>
              <a:rPr sz="2000" i="1"/>
              <a:t>“en mi computador funciona pero en el tuyo no”</a:t>
            </a:r>
          </a:p>
          <a:p>
            <a:pPr lvl="0" indent="0" marL="0">
              <a:buNone/>
            </a:pP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❌ Ruta absoluta dispersa</a:t>
            </a:r>
          </a:p>
          <a:p>
            <a:pPr lvl="0" indent="0">
              <a:buNone/>
            </a:pPr>
            <a:r>
              <a:rPr i="1">
                <a:solidFill>
                  <a:srgbClr val="5C6370"/>
                </a:solidFill>
                <a:latin typeface="Courier"/>
              </a:rPr>
              <a:t># en 2_exploration.R</a:t>
            </a:r>
            <a:br/>
            <a:r>
              <a:rPr>
                <a:solidFill>
                  <a:srgbClr val="ABB2BF"/>
                </a:solidFill>
                <a:latin typeface="Courier"/>
              </a:rPr>
              <a:t>datos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read_dta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98C379"/>
                </a:solidFill>
                <a:latin typeface="Courier"/>
              </a:rPr>
              <a:t>"/Users/juan/Desktop/</a:t>
            </a:r>
            <a:br/>
            <a:r>
              <a:rPr>
                <a:solidFill>
                  <a:srgbClr val="98C379"/>
                </a:solidFill>
                <a:latin typeface="Courier"/>
              </a:rPr>
              <a:t>   proyecto final/</a:t>
            </a:r>
            <a:br/>
            <a:r>
              <a:rPr>
                <a:solidFill>
                  <a:srgbClr val="98C379"/>
                </a:solidFill>
                <a:latin typeface="Courier"/>
              </a:rPr>
              <a:t>   datos USAR ESTE v3.dta"</a:t>
            </a:r>
            <a:br/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en 4_analyses.R</a:t>
            </a:r>
            <a:br/>
            <a:r>
              <a:rPr>
                <a:solidFill>
                  <a:srgbClr val="61AFEF"/>
                </a:solidFill>
                <a:latin typeface="Courier"/>
              </a:rPr>
              <a:t>ggsave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98C379"/>
                </a:solidFill>
                <a:latin typeface="Courier"/>
              </a:rPr>
              <a:t>"/Users/juan/Desktop/</a:t>
            </a:r>
            <a:br/>
            <a:r>
              <a:rPr>
                <a:solidFill>
                  <a:srgbClr val="98C379"/>
                </a:solidFill>
                <a:latin typeface="Courier"/>
              </a:rPr>
              <a:t>   proyecto final/</a:t>
            </a:r>
            <a:br/>
            <a:r>
              <a:rPr>
                <a:solidFill>
                  <a:srgbClr val="98C379"/>
                </a:solidFill>
                <a:latin typeface="Courier"/>
              </a:rPr>
              <a:t>   figura1_FINAL.pdf"</a:t>
            </a:r>
            <a:br/>
            <a:r>
              <a:rPr>
                <a:solidFill>
                  <a:srgbClr val="ABB2BF"/>
                </a:solidFill>
                <a:latin typeface="Courier"/>
              </a:rPr>
              <a:t>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Para adaptar el proyecto a otro computador: </a:t>
            </a:r>
            <a:r>
              <a:rPr b="1"/>
              <a:t>cambiar una sola línea</a:t>
            </a:r>
            <a:r>
              <a:rPr/>
              <a:t>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Práctica #4 · Guardar todos los outputs explícitamente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🩺 Problema que resuelve:</a:t>
            </a:r>
            <a:r>
              <a:rPr sz="2000"/>
              <a:t> </a:t>
            </a:r>
            <a:r>
              <a:rPr sz="2000" i="1"/>
              <a:t>“calculé el modelo pero no sé dónde quedó”</a:t>
            </a:r>
            <a:r>
              <a:rPr sz="2000"/>
              <a:t>, </a:t>
            </a:r>
            <a:r>
              <a:rPr sz="2000" i="1"/>
              <a:t>“la figura solo existe en el panel de R”</a:t>
            </a:r>
          </a:p>
          <a:p>
            <a:pPr lvl="0" indent="0">
              <a:buNone/>
            </a:pPr>
            <a:r>
              <a:rPr i="1">
                <a:solidFill>
                  <a:srgbClr val="5C6370"/>
                </a:solidFill>
                <a:latin typeface="Courier"/>
              </a:rPr>
              <a:t># 4_analyses.R</a:t>
            </a:r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── Figuras ──────────────────────────────────────</a:t>
            </a:r>
            <a:br/>
            <a:r>
              <a:rPr>
                <a:solidFill>
                  <a:srgbClr val="ABB2BF"/>
                </a:solidFill>
                <a:latin typeface="Courier"/>
              </a:rPr>
              <a:t>mi_figura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clientes </a:t>
            </a:r>
            <a:r>
              <a:rPr>
                <a:solidFill>
                  <a:srgbClr val="56B6C2"/>
                </a:solidFill>
                <a:latin typeface="Courier"/>
              </a:rPr>
              <a:t>|&gt;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ggplot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61AFEF"/>
                </a:solidFill>
                <a:latin typeface="Courier"/>
              </a:rPr>
              <a:t>aes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C678DD"/>
                </a:solidFill>
                <a:latin typeface="Courier"/>
              </a:rPr>
              <a:t>x =</a:t>
            </a:r>
            <a:r>
              <a:rPr>
                <a:solidFill>
                  <a:srgbClr val="ABB2BF"/>
                </a:solidFill>
                <a:latin typeface="Courier"/>
              </a:rPr>
              <a:t> region, </a:t>
            </a:r>
            <a:r>
              <a:rPr>
                <a:solidFill>
                  <a:srgbClr val="C678DD"/>
                </a:solidFill>
                <a:latin typeface="Courier"/>
              </a:rPr>
              <a:t>y =</a:t>
            </a:r>
            <a:r>
              <a:rPr>
                <a:solidFill>
                  <a:srgbClr val="ABB2BF"/>
                </a:solidFill>
                <a:latin typeface="Courier"/>
              </a:rPr>
              <a:t> nps, </a:t>
            </a:r>
            <a:r>
              <a:rPr>
                <a:solidFill>
                  <a:srgbClr val="C678DD"/>
                </a:solidFill>
                <a:latin typeface="Courier"/>
              </a:rPr>
              <a:t>fill =</a:t>
            </a:r>
            <a:r>
              <a:rPr>
                <a:solidFill>
                  <a:srgbClr val="ABB2BF"/>
                </a:solidFill>
                <a:latin typeface="Courier"/>
              </a:rPr>
              <a:t> region)) </a:t>
            </a:r>
            <a:r>
              <a:rPr>
                <a:solidFill>
                  <a:srgbClr val="56B6C2"/>
                </a:solidFill>
                <a:latin typeface="Courier"/>
              </a:rPr>
              <a:t>+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geom_boxplot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C678DD"/>
                </a:solidFill>
                <a:latin typeface="Courier"/>
              </a:rPr>
              <a:t>alpha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D19A66"/>
                </a:solidFill>
                <a:latin typeface="Courier"/>
              </a:rPr>
              <a:t>0.7</a:t>
            </a:r>
            <a:r>
              <a:rPr>
                <a:solidFill>
                  <a:srgbClr val="ABB2BF"/>
                </a:solidFill>
                <a:latin typeface="Courier"/>
              </a:rPr>
              <a:t>) </a:t>
            </a:r>
            <a:r>
              <a:rPr>
                <a:solidFill>
                  <a:srgbClr val="56B6C2"/>
                </a:solidFill>
                <a:latin typeface="Courier"/>
              </a:rPr>
              <a:t>+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theme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C678DD"/>
                </a:solidFill>
                <a:latin typeface="Courier"/>
              </a:rPr>
              <a:t>legend.position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98C379"/>
                </a:solidFill>
                <a:latin typeface="Courier"/>
              </a:rPr>
              <a:t>"none"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61AFEF"/>
                </a:solidFill>
                <a:latin typeface="Courier"/>
              </a:rPr>
              <a:t>ggsave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61AFEF"/>
                </a:solidFill>
                <a:latin typeface="Courier"/>
              </a:rPr>
              <a:t>paste0</a:t>
            </a:r>
            <a:r>
              <a:rPr>
                <a:solidFill>
                  <a:srgbClr val="ABB2BF"/>
                </a:solidFill>
                <a:latin typeface="Courier"/>
              </a:rPr>
              <a:t>(dirresults, </a:t>
            </a:r>
            <a:r>
              <a:rPr>
                <a:solidFill>
                  <a:srgbClr val="98C379"/>
                </a:solidFill>
                <a:latin typeface="Courier"/>
              </a:rPr>
              <a:t>"figura_nps_region.pdf"</a:t>
            </a:r>
            <a:r>
              <a:rPr>
                <a:solidFill>
                  <a:srgbClr val="ABB2BF"/>
                </a:solidFill>
                <a:latin typeface="Courier"/>
              </a:rPr>
              <a:t>),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   mi_figura, </a:t>
            </a:r>
            <a:r>
              <a:rPr>
                <a:solidFill>
                  <a:srgbClr val="C678DD"/>
                </a:solidFill>
                <a:latin typeface="Courier"/>
              </a:rPr>
              <a:t>width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D19A66"/>
                </a:solidFill>
                <a:latin typeface="Courier"/>
              </a:rPr>
              <a:t>15</a:t>
            </a:r>
            <a:r>
              <a:rPr>
                <a:solidFill>
                  <a:srgbClr val="ABB2BF"/>
                </a:solidFill>
                <a:latin typeface="Courier"/>
              </a:rPr>
              <a:t>, </a:t>
            </a:r>
            <a:r>
              <a:rPr>
                <a:solidFill>
                  <a:srgbClr val="C678DD"/>
                </a:solidFill>
                <a:latin typeface="Courier"/>
              </a:rPr>
              <a:t>height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D19A66"/>
                </a:solidFill>
                <a:latin typeface="Courier"/>
              </a:rPr>
              <a:t>10</a:t>
            </a:r>
            <a:r>
              <a:rPr>
                <a:solidFill>
                  <a:srgbClr val="ABB2BF"/>
                </a:solidFill>
                <a:latin typeface="Courier"/>
              </a:rPr>
              <a:t>, </a:t>
            </a:r>
            <a:r>
              <a:rPr>
                <a:solidFill>
                  <a:srgbClr val="C678DD"/>
                </a:solidFill>
                <a:latin typeface="Courier"/>
              </a:rPr>
              <a:t>units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98C379"/>
                </a:solidFill>
                <a:latin typeface="Courier"/>
              </a:rPr>
              <a:t>"cm"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── Tablas ───────────────────────────────────────</a:t>
            </a:r>
            <a:br/>
            <a:r>
              <a:rPr>
                <a:solidFill>
                  <a:srgbClr val="61AFEF"/>
                </a:solidFill>
                <a:latin typeface="Courier"/>
              </a:rPr>
              <a:t>stargazer</a:t>
            </a:r>
            <a:r>
              <a:rPr>
                <a:solidFill>
                  <a:srgbClr val="ABB2BF"/>
                </a:solidFill>
                <a:latin typeface="Courier"/>
              </a:rPr>
              <a:t>(model1, model2,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      </a:t>
            </a:r>
            <a:r>
              <a:rPr>
                <a:solidFill>
                  <a:srgbClr val="C678DD"/>
                </a:solidFill>
                <a:latin typeface="Courier"/>
              </a:rPr>
              <a:t>type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98C379"/>
                </a:solidFill>
                <a:latin typeface="Courier"/>
              </a:rPr>
              <a:t>"text"</a:t>
            </a:r>
            <a:r>
              <a:rPr>
                <a:solidFill>
                  <a:srgbClr val="ABB2BF"/>
                </a:solidFill>
                <a:latin typeface="Courier"/>
              </a:rPr>
              <a:t>,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      </a:t>
            </a:r>
            <a:r>
              <a:rPr>
                <a:solidFill>
                  <a:srgbClr val="C678DD"/>
                </a:solidFill>
                <a:latin typeface="Courier"/>
              </a:rPr>
              <a:t>out 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paste0</a:t>
            </a:r>
            <a:r>
              <a:rPr>
                <a:solidFill>
                  <a:srgbClr val="ABB2BF"/>
                </a:solidFill>
                <a:latin typeface="Courier"/>
              </a:rPr>
              <a:t>(dirresults, </a:t>
            </a:r>
            <a:r>
              <a:rPr>
                <a:solidFill>
                  <a:srgbClr val="98C379"/>
                </a:solidFill>
                <a:latin typeface="Courier"/>
              </a:rPr>
              <a:t>"tabla_regresion.txt"</a:t>
            </a:r>
            <a:r>
              <a:rPr>
                <a:solidFill>
                  <a:srgbClr val="ABB2BF"/>
                </a:solidFill>
                <a:latin typeface="Courier"/>
              </a:rPr>
              <a:t>))</a:t>
            </a:r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── Modelos ──────────────────────────────────────</a:t>
            </a:r>
            <a:br/>
            <a:r>
              <a:rPr>
                <a:solidFill>
                  <a:srgbClr val="61AFEF"/>
                </a:solidFill>
                <a:latin typeface="Courier"/>
              </a:rPr>
              <a:t>saveRDS</a:t>
            </a:r>
            <a:r>
              <a:rPr>
                <a:solidFill>
                  <a:srgbClr val="ABB2BF"/>
                </a:solidFill>
                <a:latin typeface="Courier"/>
              </a:rPr>
              <a:t>(model1, </a:t>
            </a:r>
            <a:r>
              <a:rPr>
                <a:solidFill>
                  <a:srgbClr val="61AFEF"/>
                </a:solidFill>
                <a:latin typeface="Courier"/>
              </a:rPr>
              <a:t>paste0</a:t>
            </a:r>
            <a:r>
              <a:rPr>
                <a:solidFill>
                  <a:srgbClr val="ABB2BF"/>
                </a:solidFill>
                <a:latin typeface="Courier"/>
              </a:rPr>
              <a:t>(dirresults, </a:t>
            </a:r>
            <a:r>
              <a:rPr>
                <a:solidFill>
                  <a:srgbClr val="98C379"/>
                </a:solidFill>
                <a:latin typeface="Courier"/>
              </a:rPr>
              <a:t>"modelo_nps.rds"</a:t>
            </a:r>
            <a:r>
              <a:rPr>
                <a:solidFill>
                  <a:srgbClr val="ABB2BF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Si no está guardado en </a:t>
            </a:r>
            <a:r>
              <a:rPr>
                <a:latin typeface="Courier"/>
              </a:rPr>
              <a:t>results/</a:t>
            </a:r>
            <a:r>
              <a:rPr/>
              <a:t>, </a:t>
            </a:r>
            <a:r>
              <a:rPr b="1"/>
              <a:t>no existe</a:t>
            </a:r>
            <a:r>
              <a:rPr/>
              <a:t>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Práctica #5 · Flags de debugging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🩺 Problema que resuelve:</a:t>
            </a:r>
            <a:r>
              <a:rPr sz="2000"/>
              <a:t> </a:t>
            </a:r>
            <a:r>
              <a:rPr sz="2000" i="1"/>
              <a:t>“el masterfile corrió 10 minutos y no sé si terminó o se colgó”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Al final de cada script, agrega una línea que confirme que llegó hasta ahí:</a:t>
            </a:r>
          </a:p>
          <a:p>
            <a:pPr lvl="0" indent="0">
              <a:buNone/>
            </a:pPr>
            <a:r>
              <a:rPr i="1">
                <a:solidFill>
                  <a:srgbClr val="5C6370"/>
                </a:solidFill>
                <a:latin typeface="Courier"/>
              </a:rPr>
              <a:t># al final de 2_exploration.R</a:t>
            </a:r>
            <a:br/>
            <a:r>
              <a:rPr>
                <a:solidFill>
                  <a:srgbClr val="61AFEF"/>
                </a:solidFill>
                <a:latin typeface="Courier"/>
              </a:rPr>
              <a:t>cat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"======== EXPLORACIÓN LISTA ========</a:t>
            </a:r>
            <a:r>
              <a:rPr>
                <a:solidFill>
                  <a:srgbClr val="56B6C2"/>
                </a:solidFill>
                <a:latin typeface="Courier"/>
              </a:rPr>
              <a:t>\n</a:t>
            </a:r>
            <a:r>
              <a:rPr>
                <a:solidFill>
                  <a:srgbClr val="98C379"/>
                </a:solidFill>
                <a:latin typeface="Courier"/>
              </a:rPr>
              <a:t>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al final de 3_recoding.R</a:t>
            </a:r>
            <a:br/>
            <a:r>
              <a:rPr>
                <a:solidFill>
                  <a:srgbClr val="61AFEF"/>
                </a:solidFill>
                <a:latin typeface="Courier"/>
              </a:rPr>
              <a:t>cat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"======== RECODIFICACIÓN LISTA ========</a:t>
            </a:r>
            <a:r>
              <a:rPr>
                <a:solidFill>
                  <a:srgbClr val="56B6C2"/>
                </a:solidFill>
                <a:latin typeface="Courier"/>
              </a:rPr>
              <a:t>\n</a:t>
            </a:r>
            <a:r>
              <a:rPr>
                <a:solidFill>
                  <a:srgbClr val="98C379"/>
                </a:solidFill>
                <a:latin typeface="Courier"/>
              </a:rPr>
              <a:t>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al final de 4_analyses.R</a:t>
            </a:r>
            <a:br/>
            <a:r>
              <a:rPr>
                <a:solidFill>
                  <a:srgbClr val="61AFEF"/>
                </a:solidFill>
                <a:latin typeface="Courier"/>
              </a:rPr>
              <a:t>cat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"======== ANÁLISIS LISTOS ========</a:t>
            </a:r>
            <a:r>
              <a:rPr>
                <a:solidFill>
                  <a:srgbClr val="56B6C2"/>
                </a:solidFill>
                <a:latin typeface="Courier"/>
              </a:rPr>
              <a:t>\n</a:t>
            </a:r>
            <a:r>
              <a:rPr>
                <a:solidFill>
                  <a:srgbClr val="98C379"/>
                </a:solidFill>
                <a:latin typeface="Courier"/>
              </a:rPr>
              <a:t>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Práctica #6 · Comentar el código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🩺 Problema que resuelve:</a:t>
            </a:r>
            <a:r>
              <a:rPr sz="2000"/>
              <a:t> </a:t>
            </a:r>
            <a:r>
              <a:rPr sz="2000" i="1"/>
              <a:t>“sé qué hace el código, pero no por qué lo hace así”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Un buen comentario no explica </a:t>
            </a:r>
            <a:r>
              <a:rPr b="1"/>
              <a:t>qué</a:t>
            </a:r>
            <a:r>
              <a:rPr/>
              <a:t> hace el código — eso ya se ve. Explica </a:t>
            </a:r>
            <a:r>
              <a:rPr b="1"/>
              <a:t>por qué</a:t>
            </a:r>
            <a:r>
              <a:rPr/>
              <a:t> se tomó esa decisión.</a:t>
            </a:r>
          </a:p>
          <a:p>
            <a:pPr lvl="0" indent="0" marL="0">
              <a:buNone/>
            </a:pP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❌ Comentario inútil</a:t>
            </a:r>
          </a:p>
          <a:p>
            <a:pPr lvl="0" indent="0">
              <a:buNone/>
            </a:pPr>
            <a:r>
              <a:rPr i="1">
                <a:solidFill>
                  <a:srgbClr val="5C6370"/>
                </a:solidFill>
                <a:latin typeface="Courier"/>
              </a:rPr>
              <a:t># filtra filas con NA</a:t>
            </a:r>
            <a:br/>
            <a:r>
              <a:rPr>
                <a:solidFill>
                  <a:srgbClr val="ABB2BF"/>
                </a:solidFill>
                <a:latin typeface="Courier"/>
              </a:rPr>
              <a:t>datos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datos </a:t>
            </a:r>
            <a:r>
              <a:rPr>
                <a:solidFill>
                  <a:srgbClr val="56B6C2"/>
                </a:solidFill>
                <a:latin typeface="Courier"/>
              </a:rPr>
              <a:t>|&gt;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filter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56B6C2"/>
                </a:solidFill>
                <a:latin typeface="Courier"/>
              </a:rPr>
              <a:t>!</a:t>
            </a:r>
            <a:r>
              <a:rPr>
                <a:solidFill>
                  <a:srgbClr val="61AFEF"/>
                </a:solidFill>
                <a:latin typeface="Courier"/>
              </a:rPr>
              <a:t>is.na</a:t>
            </a:r>
            <a:r>
              <a:rPr>
                <a:solidFill>
                  <a:srgbClr val="ABB2BF"/>
                </a:solidFill>
                <a:latin typeface="Courier"/>
              </a:rPr>
              <a:t>(nps))</a:t>
            </a:r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calcula media</a:t>
            </a:r>
            <a:br/>
            <a:r>
              <a:rPr>
                <a:solidFill>
                  <a:srgbClr val="ABB2BF"/>
                </a:solidFill>
                <a:latin typeface="Courier"/>
              </a:rPr>
              <a:t>media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mean</a:t>
            </a:r>
            <a:r>
              <a:rPr>
                <a:solidFill>
                  <a:srgbClr val="ABB2BF"/>
                </a:solidFill>
                <a:latin typeface="Courier"/>
              </a:rPr>
              <a:t>(datos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nps)</a:t>
            </a:r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hace gráfico</a:t>
            </a:r>
            <a:br/>
            <a:r>
              <a:rPr>
                <a:solidFill>
                  <a:srgbClr val="61AFEF"/>
                </a:solidFill>
                <a:latin typeface="Courier"/>
              </a:rPr>
              <a:t>ggplot</a:t>
            </a:r>
            <a:r>
              <a:rPr>
                <a:solidFill>
                  <a:srgbClr val="ABB2BF"/>
                </a:solidFill>
                <a:latin typeface="Courier"/>
              </a:rPr>
              <a:t>(datos, </a:t>
            </a:r>
            <a:r>
              <a:rPr>
                <a:solidFill>
                  <a:srgbClr val="61AFEF"/>
                </a:solidFill>
                <a:latin typeface="Courier"/>
              </a:rPr>
              <a:t>aes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C678DD"/>
                </a:solidFill>
                <a:latin typeface="Courier"/>
              </a:rPr>
              <a:t>x =</a:t>
            </a:r>
            <a:r>
              <a:rPr>
                <a:solidFill>
                  <a:srgbClr val="ABB2BF"/>
                </a:solidFill>
                <a:latin typeface="Courier"/>
              </a:rPr>
              <a:t> nps)) </a:t>
            </a:r>
            <a:r>
              <a:rPr>
                <a:solidFill>
                  <a:srgbClr val="56B6C2"/>
                </a:solidFill>
                <a:latin typeface="Courier"/>
              </a:rPr>
              <a:t>+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geom_histogram</a:t>
            </a:r>
            <a:r>
              <a:rPr>
                <a:solidFill>
                  <a:srgbClr val="ABB2BF"/>
                </a:solidFill>
                <a:latin typeface="Courier"/>
              </a:rPr>
              <a:t>()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Práctica #7 · Comentar el código — estructura del script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Usa </a:t>
            </a:r>
            <a:r>
              <a:rPr b="1"/>
              <a:t>encabezados de sección</a:t>
            </a:r>
            <a:r>
              <a:rPr/>
              <a:t> para que el script sea escaneable:</a:t>
            </a:r>
          </a:p>
          <a:p>
            <a:pPr lvl="0" indent="0">
              <a:buNone/>
            </a:pPr>
            <a:r>
              <a:rPr i="1">
                <a:solidFill>
                  <a:srgbClr val="5C6370"/>
                </a:solidFill>
                <a:latin typeface="Courier"/>
              </a:rPr>
              <a:t># ══════════════════════════════════════════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# 4_analyses.R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# Análisis NPS por región y sector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# Autor: Mauricio Bucca · mayo 2025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# Inputs:  data/clean/clientes.csv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# Outputs: results/figura_nps.pdf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#          results/tabla_regresion.txt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# ══════════════════════════════════════════</a:t>
            </a:r>
            <a:br/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── 1. Cargar datos ───────────────────────</a:t>
            </a:r>
            <a:br/>
            <a:r>
              <a:rPr>
                <a:solidFill>
                  <a:srgbClr val="ABB2BF"/>
                </a:solidFill>
                <a:latin typeface="Courier"/>
              </a:rPr>
              <a:t>clientes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read_csv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61AFEF"/>
                </a:solidFill>
                <a:latin typeface="Courier"/>
              </a:rPr>
              <a:t>paste0</a:t>
            </a:r>
            <a:r>
              <a:rPr>
                <a:solidFill>
                  <a:srgbClr val="ABB2BF"/>
                </a:solidFill>
                <a:latin typeface="Courier"/>
              </a:rPr>
              <a:t>(dirdata, </a:t>
            </a:r>
            <a:r>
              <a:rPr>
                <a:solidFill>
                  <a:srgbClr val="98C379"/>
                </a:solidFill>
                <a:latin typeface="Courier"/>
              </a:rPr>
              <a:t>"clientes.csv"</a:t>
            </a:r>
            <a:r>
              <a:rPr>
                <a:solidFill>
                  <a:srgbClr val="ABB2BF"/>
                </a:solidFill>
                <a:latin typeface="Courier"/>
              </a:rPr>
              <a:t>))</a:t>
            </a:r>
            <a:br/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── 2. Descriptivos ───────────────────────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# NPS por región — tabla de resumen</a:t>
            </a:r>
            <a:br/>
            <a:r>
              <a:rPr>
                <a:solidFill>
                  <a:srgbClr val="ABB2BF"/>
                </a:solidFill>
                <a:latin typeface="Courier"/>
              </a:rPr>
              <a:t>clientes </a:t>
            </a:r>
            <a:r>
              <a:rPr>
                <a:solidFill>
                  <a:srgbClr val="56B6C2"/>
                </a:solidFill>
                <a:latin typeface="Courier"/>
              </a:rPr>
              <a:t>|&gt;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group_by</a:t>
            </a:r>
            <a:r>
              <a:rPr>
                <a:solidFill>
                  <a:srgbClr val="ABB2BF"/>
                </a:solidFill>
                <a:latin typeface="Courier"/>
              </a:rPr>
              <a:t>(region) </a:t>
            </a:r>
            <a:r>
              <a:rPr>
                <a:solidFill>
                  <a:srgbClr val="56B6C2"/>
                </a:solidFill>
                <a:latin typeface="Courier"/>
              </a:rPr>
              <a:t>|&gt;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summarise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C678DD"/>
                </a:solidFill>
                <a:latin typeface="Courier"/>
              </a:rPr>
              <a:t>media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mean</a:t>
            </a:r>
            <a:r>
              <a:rPr>
                <a:solidFill>
                  <a:srgbClr val="ABB2BF"/>
                </a:solidFill>
                <a:latin typeface="Courier"/>
              </a:rPr>
              <a:t>(nps, </a:t>
            </a:r>
            <a:r>
              <a:rPr>
                <a:solidFill>
                  <a:srgbClr val="C678DD"/>
                </a:solidFill>
                <a:latin typeface="Courier"/>
              </a:rPr>
              <a:t>na.rm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D19A66"/>
                </a:solidFill>
                <a:latin typeface="Courier"/>
              </a:rPr>
              <a:t>TRUE</a:t>
            </a:r>
            <a:r>
              <a:rPr>
                <a:solidFill>
                  <a:srgbClr val="ABB2BF"/>
                </a:solidFill>
                <a:latin typeface="Courier"/>
              </a:rPr>
              <a:t>)) </a:t>
            </a:r>
            <a:r>
              <a:rPr>
                <a:solidFill>
                  <a:srgbClr val="56B6C2"/>
                </a:solidFill>
                <a:latin typeface="Courier"/>
              </a:rPr>
              <a:t>|&gt;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arrange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61AFEF"/>
                </a:solidFill>
                <a:latin typeface="Courier"/>
              </a:rPr>
              <a:t>desc</a:t>
            </a:r>
            <a:r>
              <a:rPr>
                <a:solidFill>
                  <a:srgbClr val="ABB2BF"/>
                </a:solidFill>
                <a:latin typeface="Courier"/>
              </a:rPr>
              <a:t>(media))</a:t>
            </a:r>
            <a:br/>
            <a:br/>
            <a:br/>
            <a:r>
              <a:rPr i="1">
                <a:solidFill>
                  <a:srgbClr val="5C6370"/>
                </a:solidFill>
                <a:latin typeface="Courier"/>
              </a:rPr>
              <a:t># ── 3. Modelo ─────────────────────────────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# Se usa OLS simple (no mixto) porque no hay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# estructura jerárquica suficiente (n &lt; 30 por grupo)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model1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lm</a:t>
            </a:r>
            <a:r>
              <a:rPr>
                <a:solidFill>
                  <a:srgbClr val="ABB2BF"/>
                </a:solidFill>
                <a:latin typeface="Courier"/>
              </a:rPr>
              <a:t>(nps </a:t>
            </a:r>
            <a:r>
              <a:rPr>
                <a:solidFill>
                  <a:srgbClr val="56B6C2"/>
                </a:solidFill>
                <a:latin typeface="Courier"/>
              </a:rPr>
              <a:t>~</a:t>
            </a:r>
            <a:r>
              <a:rPr>
                <a:solidFill>
                  <a:srgbClr val="ABB2BF"/>
                </a:solidFill>
                <a:latin typeface="Courier"/>
              </a:rPr>
              <a:t> satisfaccion </a:t>
            </a:r>
            <a:r>
              <a:rPr>
                <a:solidFill>
                  <a:srgbClr val="56B6C2"/>
                </a:solidFill>
                <a:latin typeface="Courier"/>
              </a:rPr>
              <a:t>+</a:t>
            </a:r>
            <a:r>
              <a:rPr>
                <a:solidFill>
                  <a:srgbClr val="ABB2BF"/>
                </a:solidFill>
                <a:latin typeface="Courier"/>
              </a:rPr>
              <a:t> facturacion_mm, </a:t>
            </a:r>
            <a:r>
              <a:rPr>
                <a:solidFill>
                  <a:srgbClr val="C678DD"/>
                </a:solidFill>
                <a:latin typeface="Courier"/>
              </a:rPr>
              <a:t>data =</a:t>
            </a:r>
            <a:r>
              <a:rPr>
                <a:solidFill>
                  <a:srgbClr val="ABB2BF"/>
                </a:solidFill>
                <a:latin typeface="Courier"/>
              </a:rPr>
              <a:t> clientes)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Un script bien comentado es legible como un documento — no como un acertijo.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Práctica #8 · Iterar en vez de copiar-pegar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🩺 Problema que resuelve:</a:t>
            </a:r>
            <a:r>
              <a:rPr sz="2000"/>
              <a:t> </a:t>
            </a:r>
            <a:r>
              <a:rPr sz="2000" i="1"/>
              <a:t>“el análisis hay que repetirlo para 13 sucursales”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En vez de duplicar </a:t>
            </a:r>
            <a:r>
              <a:rPr>
                <a:latin typeface="Courier"/>
              </a:rPr>
              <a:t>4_analyses.R</a:t>
            </a:r>
            <a:r>
              <a:rPr/>
              <a:t> trece veces, el masterfile itera:</a:t>
            </a:r>
          </a:p>
          <a:p>
            <a:pPr lvl="0" indent="0">
              <a:buNone/>
            </a:pPr>
            <a:r>
              <a:rPr i="1">
                <a:solidFill>
                  <a:srgbClr val="5C6370"/>
                </a:solidFill>
                <a:latin typeface="Courier"/>
              </a:rPr>
              <a:t># 1_masterfile.R</a:t>
            </a:r>
            <a:br/>
            <a:r>
              <a:rPr>
                <a:solidFill>
                  <a:srgbClr val="ABB2BF"/>
                </a:solidFill>
                <a:latin typeface="Courier"/>
              </a:rPr>
              <a:t>sucursales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unique</a:t>
            </a:r>
            <a:r>
              <a:rPr>
                <a:solidFill>
                  <a:srgbClr val="ABB2BF"/>
                </a:solidFill>
                <a:latin typeface="Courier"/>
              </a:rPr>
              <a:t>(clientes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sucursal)  </a:t>
            </a:r>
            <a:r>
              <a:rPr i="1">
                <a:solidFill>
                  <a:srgbClr val="5C6370"/>
                </a:solidFill>
                <a:latin typeface="Courier"/>
              </a:rPr>
              <a:t># c("Santiago", "Valparaíso", "Concepción", ...)</a:t>
            </a:r>
            <a:br/>
            <a:br/>
            <a:r>
              <a:rPr>
                <a:solidFill>
                  <a:srgbClr val="C678DD"/>
                </a:solidFill>
                <a:latin typeface="Courier"/>
              </a:rPr>
              <a:t>for</a:t>
            </a:r>
            <a:r>
              <a:rPr>
                <a:solidFill>
                  <a:srgbClr val="ABB2BF"/>
                </a:solidFill>
                <a:latin typeface="Courier"/>
              </a:rPr>
              <a:t> (s </a:t>
            </a:r>
            <a:r>
              <a:rPr>
                <a:solidFill>
                  <a:srgbClr val="C678DD"/>
                </a:solidFill>
                <a:latin typeface="Courier"/>
              </a:rPr>
              <a:t>in</a:t>
            </a:r>
            <a:r>
              <a:rPr>
                <a:solidFill>
                  <a:srgbClr val="ABB2BF"/>
                </a:solidFill>
                <a:latin typeface="Courier"/>
              </a:rPr>
              <a:t> sucursales) {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cat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"=== ANALIZANDO:"</a:t>
            </a:r>
            <a:r>
              <a:rPr>
                <a:solidFill>
                  <a:srgbClr val="ABB2BF"/>
                </a:solidFill>
                <a:latin typeface="Courier"/>
              </a:rPr>
              <a:t>, s, </a:t>
            </a:r>
            <a:r>
              <a:rPr>
                <a:solidFill>
                  <a:srgbClr val="98C379"/>
                </a:solidFill>
                <a:latin typeface="Courier"/>
              </a:rPr>
              <a:t>"===</a:t>
            </a:r>
            <a:r>
              <a:rPr>
                <a:solidFill>
                  <a:srgbClr val="56B6C2"/>
                </a:solidFill>
                <a:latin typeface="Courier"/>
              </a:rPr>
              <a:t>\n</a:t>
            </a:r>
            <a:r>
              <a:rPr>
                <a:solidFill>
                  <a:srgbClr val="98C379"/>
                </a:solidFill>
                <a:latin typeface="Courier"/>
              </a:rPr>
              <a:t>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 i="1">
                <a:solidFill>
                  <a:srgbClr val="5C6370"/>
                </a:solidFill>
                <a:latin typeface="Courier"/>
              </a:rPr>
              <a:t># filtra datos de la sucursal s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clientes_suc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clientes </a:t>
            </a:r>
            <a:r>
              <a:rPr>
                <a:solidFill>
                  <a:srgbClr val="56B6C2"/>
                </a:solidFill>
                <a:latin typeface="Courier"/>
              </a:rPr>
              <a:t>|&gt;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filter</a:t>
            </a:r>
            <a:r>
              <a:rPr>
                <a:solidFill>
                  <a:srgbClr val="ABB2BF"/>
                </a:solidFill>
                <a:latin typeface="Courier"/>
              </a:rPr>
              <a:t>(sucursal </a:t>
            </a:r>
            <a:r>
              <a:rPr>
                <a:solidFill>
                  <a:srgbClr val="56B6C2"/>
                </a:solidFill>
                <a:latin typeface="Courier"/>
              </a:rPr>
              <a:t>==</a:t>
            </a:r>
            <a:r>
              <a:rPr>
                <a:solidFill>
                  <a:srgbClr val="ABB2BF"/>
                </a:solidFill>
                <a:latin typeface="Courier"/>
              </a:rPr>
              <a:t> s)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 i="1">
                <a:solidFill>
                  <a:srgbClr val="5C6370"/>
                </a:solidFill>
                <a:latin typeface="Courier"/>
              </a:rPr>
              <a:t># corre el mismo script — los outputs se guardan con sufijo "_s"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source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61AFEF"/>
                </a:solidFill>
                <a:latin typeface="Courier"/>
              </a:rPr>
              <a:t>paste0</a:t>
            </a:r>
            <a:r>
              <a:rPr>
                <a:solidFill>
                  <a:srgbClr val="ABB2BF"/>
                </a:solidFill>
                <a:latin typeface="Courier"/>
              </a:rPr>
              <a:t>(dircode, </a:t>
            </a:r>
            <a:r>
              <a:rPr>
                <a:solidFill>
                  <a:srgbClr val="98C379"/>
                </a:solidFill>
                <a:latin typeface="Courier"/>
              </a:rPr>
              <a:t>"5_analyses_bysucursal.R"</a:t>
            </a:r>
            <a:r>
              <a:rPr>
                <a:solidFill>
                  <a:srgbClr val="ABB2BF"/>
                </a:solidFill>
                <a:latin typeface="Courier"/>
              </a:rPr>
              <a:t>))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Si se agrega una sucursal, el código lo maneja solo.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El antes y el después</a:t>
            </a:r>
          </a:p>
          <a:p>
            <a:pPr lvl="0" indent="0" marL="0">
              <a:buNone/>
            </a:pP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❌ Malas prácticas</a:t>
            </a:r>
          </a:p>
          <a:p>
            <a:pPr lvl="0" indent="0">
              <a:buNone/>
            </a:pPr>
            <a:r>
              <a:rPr>
                <a:latin typeface="Courier"/>
              </a:rPr>
              <a:t>analisis.R          ← 800 líneas
analisis_v2.R
analisis_FINAL.R
Ruta: /Users/juan/Desktop/
  proyecto final/datos v3.csv
mean(metro$nps)     ← repetido 5 veces
mean(valpo$nps)
mean(biobio$nps)
...
# figura → solo en el panel, perdida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Herramientas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El ecosistema moderno</a:t>
            </a:r>
          </a:p>
          <a:p>
            <a:pPr lvl="0" indent="0" marL="0">
              <a:buNone/>
            </a:p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Herramienta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¿Qué problema resuelve?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R / Python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Análisis en código auditable (vs. clic-a-clic en Excel)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Positron</a:t>
                      </a:r>
                      <a:r>
                        <a:rPr/>
                        <a:t> </a:t>
                      </a:r>
                      <a:r>
                        <a:rPr i="1"/>
                        <a:t>(IDE)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Una sola ventana para todo el workflow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GitHub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i="1"/>
                        <a:t>“¿qué cambió?”</a:t>
                      </a:r>
                      <a:r>
                        <a:rPr/>
                        <a:t>, </a:t>
                      </a:r>
                      <a:r>
                        <a:rPr i="1"/>
                        <a:t>“¿quién lo cambió?”</a:t>
                      </a:r>
                      <a:r>
                        <a:rPr/>
                        <a:t>, </a:t>
                      </a:r>
                      <a:r>
                        <a:rPr i="1"/>
                        <a:t>“volvamos a la versión del lunes”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Quarto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Reportes y presentaciones reproducibles que se regeneran con un comando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IA (Claude Code, etc.)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Asistencia dentro del pipeline (no fuera)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 o Python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 o Python: herramientas, no religión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Los </a:t>
            </a:r>
            <a:r>
              <a:rPr b="1"/>
              <a:t>principios</a:t>
            </a:r>
            <a:r>
              <a:rPr/>
              <a:t> del workflow no cambian con el lenguaje.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Tarea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Python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Estadística clásica · ggplot · reportes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✓✓✓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Manipulación tabular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✓✓✓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✓✓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Machine Learning · NLP · scraping · automatización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✓✓✓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Para estudios de mercado → </a:t>
            </a:r>
            <a:r>
              <a:rPr b="1"/>
              <a:t>R con tidyverse</a:t>
            </a:r>
            <a:r>
              <a:rPr/>
              <a:t> suele ser el camino más corto.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Positron: el IDE moderno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Positron: el IDE moderno</a:t>
            </a:r>
          </a:p>
          <a:p>
            <a:pPr lvl="0" indent="0" marL="0">
              <a:buNone/>
            </a:pP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🩺 Problema que resuelve:</a:t>
            </a:r>
            <a:r>
              <a:rPr sz="2000"/>
              <a:t> </a:t>
            </a:r>
            <a:r>
              <a:rPr sz="2000" i="1"/>
              <a:t>“tengo R abierto en RStudio, Python en VS Code, Quarto en otra ventana, y la terminal aparte”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¿Qué integra Positron?</a:t>
            </a:r>
          </a:p>
          <a:p>
            <a:pPr lvl="0" indent="0" marL="0">
              <a:buNone/>
            </a:pP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Lenguajes</a:t>
            </a:r>
          </a:p>
          <a:p>
            <a:pPr lvl="0"/>
            <a:r>
              <a:rPr/>
              <a:t>Consolas </a:t>
            </a:r>
            <a:r>
              <a:rPr b="1"/>
              <a:t>R y Python simultáneas</a:t>
            </a:r>
          </a:p>
          <a:p>
            <a:pPr lvl="0"/>
            <a:r>
              <a:rPr/>
              <a:t>Cambio fluido entre uno y otro</a:t>
            </a:r>
          </a:p>
          <a:p>
            <a:pPr lvl="0"/>
            <a:r>
              <a:rPr/>
              <a:t>Variable explorer para ambos</a:t>
            </a:r>
          </a:p>
          <a:p>
            <a:pPr lvl="0"/>
            <a:r>
              <a:rPr/>
              <a:t>Data frame viewer integrado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Todo el workflow en una sola ventana.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GitHub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GitHub: la máquina del tiempo del proyecto</a:t>
            </a:r>
          </a:p>
          <a:p>
            <a:pPr lvl="0" indent="0" marL="0">
              <a:buNone/>
            </a:pP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🩺 Problema que resuelve:</a:t>
            </a:r>
            <a:r>
              <a:rPr sz="2000"/>
              <a:t> </a:t>
            </a:r>
            <a:r>
              <a:rPr sz="2000" i="1"/>
              <a:t>“¿qué cambió desde ayer?”</a:t>
            </a:r>
            <a:r>
              <a:rPr sz="2000"/>
              <a:t>, </a:t>
            </a:r>
            <a:r>
              <a:rPr sz="2000" i="1"/>
              <a:t>“rompiste algo y no sé qué”</a:t>
            </a:r>
            <a:r>
              <a:rPr sz="2000"/>
              <a:t>, </a:t>
            </a:r>
            <a:r>
              <a:rPr sz="2000" i="1"/>
              <a:t>“tengo 5 versiones del mismo archivo”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GitHub</a:t>
            </a:r>
            <a:r>
              <a:rPr/>
              <a:t> es una plataforma para guardar y versionar proyectos en la nube.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/>
            <a:r>
              <a:rPr/>
              <a:t>Guarda </a:t>
            </a:r>
            <a:r>
              <a:rPr b="1"/>
              <a:t>todo el historial</a:t>
            </a:r>
            <a:r>
              <a:rPr/>
              <a:t> del proyecto, no solo la versión actual</a:t>
            </a:r>
          </a:p>
          <a:p>
            <a:pPr lvl="0"/>
            <a:r>
              <a:rPr/>
              <a:t>Tú decides cuándo tomar una “foto” del proyecto y le pones un nombre descriptivo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¿Cómo se usa?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Creas un repositorio</a:t>
            </a:r>
            <a:r>
              <a:rPr/>
              <a:t> en github.com — como crear una carpeta nueva</a:t>
            </a:r>
          </a:p>
          <a:p>
            <a:pPr lvl="0" indent="-342900" marL="342900">
              <a:buAutoNum type="arabicPeriod"/>
            </a:pPr>
            <a:r>
              <a:rPr b="1"/>
              <a:t>Lo conectas a tu computador</a:t>
            </a:r>
            <a:r>
              <a:rPr/>
              <a:t> desde Positron — un clic</a:t>
            </a:r>
          </a:p>
          <a:p>
            <a:pPr lvl="0" indent="-342900" marL="342900">
              <a:buAutoNum type="arabicPeriod"/>
            </a:pPr>
            <a:r>
              <a:rPr b="1"/>
              <a:t>Trabajas normalmente</a:t>
            </a:r>
            <a:r>
              <a:rPr/>
              <a:t> — editas scripts, corres código, guardas archivos</a:t>
            </a:r>
          </a:p>
          <a:p>
            <a:pPr lvl="0" indent="-342900" marL="342900">
              <a:buAutoNum type="arabicPeriod"/>
            </a:pPr>
            <a:r>
              <a:rPr b="1"/>
              <a:t>Cuando algo funciona, haces un </a:t>
            </a:r>
            <a:r>
              <a:rPr b="1" i="1"/>
              <a:t>commit</a:t>
            </a:r>
            <a:r>
              <a:rPr/>
              <a:t> — una foto del proyecto con un mensaje tuyo</a:t>
            </a:r>
          </a:p>
          <a:p>
            <a:pPr lvl="0" indent="-342900" marL="342900">
              <a:buAutoNum type="arabicPeriod"/>
            </a:pPr>
            <a:r>
              <a:rPr b="1"/>
              <a:t>Haces </a:t>
            </a:r>
            <a:r>
              <a:rPr b="1" i="1"/>
              <a:t>pull</a:t>
            </a:r>
            <a:r>
              <a:rPr/>
              <a:t> — baja los cambios que hiciste en otro computador o que hizo tu colega</a:t>
            </a:r>
          </a:p>
          <a:p>
            <a:pPr lvl="0" indent="-342900" marL="342900">
              <a:buAutoNum type="arabicPeriod"/>
            </a:pPr>
            <a:r>
              <a:rPr b="1"/>
              <a:t>Haces </a:t>
            </a:r>
            <a:r>
              <a:rPr b="1" i="1"/>
              <a:t>push</a:t>
            </a:r>
            <a:r>
              <a:rPr/>
              <a:t> — subes esa foto a GitHub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En Positron todo esto se hace </a:t>
            </a:r>
            <a:r>
              <a:rPr b="1"/>
              <a:t>con botones</a:t>
            </a:r>
            <a:r>
              <a:rPr/>
              <a:t>, no con terminal.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¿Qué se ve en GitHub?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El README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El README: tu yo del futuro lo agradecerá</a:t>
            </a:r>
          </a:p>
          <a:p>
            <a:pPr lvl="0" indent="0" marL="0">
              <a:buNone/>
            </a:pP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🩺 Problema que resuelve:</a:t>
            </a:r>
            <a:r>
              <a:rPr sz="2000"/>
              <a:t> </a:t>
            </a:r>
            <a:r>
              <a:rPr sz="2000" i="1"/>
              <a:t>“abro el proyecto en 1 semana después y no entiendo qué hice!”</a:t>
            </a:r>
          </a:p>
          <a:p>
            <a:pPr lvl="0" indent="0" marL="0">
              <a:buNone/>
            </a:pP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¿Qué responde?</a:t>
            </a:r>
          </a:p>
          <a:p>
            <a:pPr lvl="0"/>
            <a:r>
              <a:rPr/>
              <a:t>¿Qué hace este proyecto?</a:t>
            </a:r>
          </a:p>
          <a:p>
            <a:pPr lvl="0"/>
            <a:r>
              <a:rPr/>
              <a:t>¿Cómo lo corro desde cero?</a:t>
            </a:r>
          </a:p>
          <a:p>
            <a:pPr lvl="0"/>
            <a:r>
              <a:rPr/>
              <a:t>¿Dónde están los datos?</a:t>
            </a:r>
          </a:p>
          <a:p>
            <a:pPr lvl="0"/>
            <a:r>
              <a:rPr/>
              <a:t>¿Qué dependencias necesito?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README: estructura de carpetas</a:t>
            </a:r>
          </a:p>
          <a:p>
            <a:pPr lvl="0" indent="0" marL="0">
              <a:buNone/>
            </a:pPr>
            <a:r>
              <a:rPr/>
              <a:t>Documenta qué hay en cada directorio para que nadie tenga que adivinar:</a:t>
            </a:r>
          </a:p>
          <a:p>
            <a:pPr lvl="0" indent="0">
              <a:buNone/>
            </a:pPr>
            <a:r>
              <a:rPr>
                <a:solidFill>
                  <a:srgbClr val="61AFEF"/>
                </a:solidFill>
                <a:latin typeface="Courier"/>
              </a:rPr>
              <a:t>## Estructura del proyecto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diagnostico_nps_2025/</a:t>
            </a:r>
            <a:br/>
            <a:r>
              <a:rPr>
                <a:solidFill>
                  <a:srgbClr val="ABB2BF"/>
                </a:solidFill>
                <a:latin typeface="Courier"/>
              </a:rPr>
              <a:t>├── data/</a:t>
            </a:r>
            <a:br/>
            <a:r>
              <a:rPr>
                <a:solidFill>
                  <a:srgbClr val="ABB2BF"/>
                </a:solidFill>
                <a:latin typeface="Courier"/>
              </a:rPr>
              <a:t>│   ├── raw/          ← datos originales del cliente (NUNCA editar)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│   ├── clean/        ← output de 01_clean.R</a:t>
            </a:r>
            <a:br/>
            <a:r>
              <a:rPr>
                <a:solidFill>
                  <a:srgbClr val="ABB2BF"/>
                </a:solidFill>
                <a:latin typeface="Courier"/>
              </a:rPr>
              <a:t>│   └── processed/    ← datos derivados para análisis específico</a:t>
            </a:r>
            <a:br/>
            <a:r>
              <a:rPr>
                <a:solidFill>
                  <a:srgbClr val="ABB2BF"/>
                </a:solidFill>
                <a:latin typeface="Courier"/>
              </a:rPr>
              <a:t>├── code/</a:t>
            </a:r>
            <a:br/>
            <a:r>
              <a:rPr>
                <a:solidFill>
                  <a:srgbClr val="ABB2BF"/>
                </a:solidFill>
                <a:latin typeface="Courier"/>
              </a:rPr>
              <a:t>│   ├── 01_clean.R    ← limpieza y estandarización</a:t>
            </a:r>
            <a:br/>
            <a:r>
              <a:rPr>
                <a:solidFill>
                  <a:srgbClr val="ABB2BF"/>
                </a:solidFill>
                <a:latin typeface="Courier"/>
              </a:rPr>
              <a:t>│   ├── 02_analysis.R ← análisis exploratorio y modelos</a:t>
            </a:r>
            <a:br/>
            <a:r>
              <a:rPr>
                <a:solidFill>
                  <a:srgbClr val="ABB2BF"/>
                </a:solidFill>
                <a:latin typeface="Courier"/>
              </a:rPr>
              <a:t>│   ├── 03_figures.R  ← generación de gráficos</a:t>
            </a:r>
            <a:br/>
            <a:r>
              <a:rPr>
                <a:solidFill>
                  <a:srgbClr val="ABB2BF"/>
                </a:solidFill>
                <a:latin typeface="Courier"/>
              </a:rPr>
              <a:t>│   └── utils/        ← funciones reutilizables</a:t>
            </a:r>
            <a:br/>
            <a:r>
              <a:rPr>
                <a:solidFill>
                  <a:srgbClr val="ABB2BF"/>
                </a:solidFill>
                <a:latin typeface="Courier"/>
              </a:rPr>
              <a:t>├── output/</a:t>
            </a:r>
            <a:br/>
            <a:r>
              <a:rPr>
                <a:solidFill>
                  <a:srgbClr val="ABB2BF"/>
                </a:solidFill>
                <a:latin typeface="Courier"/>
              </a:rPr>
              <a:t>│   ├── figures/      ← archivos .png, .pdf</a:t>
            </a:r>
            <a:br/>
            <a:r>
              <a:rPr>
                <a:solidFill>
                  <a:srgbClr val="ABB2BF"/>
                </a:solidFill>
                <a:latin typeface="Courier"/>
              </a:rPr>
              <a:t>│   └── tables/       ← tablas de resultados .csv</a:t>
            </a:r>
            <a:br/>
            <a:r>
              <a:rPr>
                <a:solidFill>
                  <a:srgbClr val="ABB2BF"/>
                </a:solidFill>
                <a:latin typeface="Courier"/>
              </a:rPr>
              <a:t>├── docs/</a:t>
            </a:r>
            <a:br/>
            <a:r>
              <a:rPr>
                <a:solidFill>
                  <a:srgbClr val="ABB2BF"/>
                </a:solidFill>
                <a:latin typeface="Courier"/>
              </a:rPr>
              <a:t>│   └── reporte.qmd   ← documento maestro</a:t>
            </a:r>
            <a:br/>
            <a:r>
              <a:rPr>
                <a:solidFill>
                  <a:srgbClr val="ABB2BF"/>
                </a:solidFill>
                <a:latin typeface="Courier"/>
              </a:rPr>
              <a:t>├── README.md         ← este archivo</a:t>
            </a:r>
            <a:br/>
            <a:r>
              <a:rPr>
                <a:solidFill>
                  <a:srgbClr val="ABB2BF"/>
                </a:solidFill>
                <a:latin typeface="Courier"/>
              </a:rPr>
              <a:t>└── renv.lock         ← versiones exactas de packages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README: cómo replicar (el corazón del documento)</a:t>
            </a:r>
          </a:p>
          <a:p>
            <a:pPr lvl="0" indent="0" marL="0">
              <a:buNone/>
            </a:pPr>
            <a:r>
              <a:rPr/>
              <a:t>Los pasos deben funcionar en el computador de </a:t>
            </a:r>
            <a:r>
              <a:rPr b="1"/>
              <a:t>cualquier persona</a:t>
            </a:r>
            <a:r>
              <a:rPr/>
              <a:t>, no solo en el tuyo:</a:t>
            </a:r>
          </a:p>
          <a:p>
            <a:pPr lvl="0" indent="0">
              <a:buNone/>
            </a:pPr>
            <a:r>
              <a:rPr>
                <a:solidFill>
                  <a:srgbClr val="61AFEF"/>
                </a:solidFill>
                <a:latin typeface="Courier"/>
              </a:rPr>
              <a:t>## Cómo replicar desde cero</a:t>
            </a:r>
            <a:br/>
            <a:br/>
            <a:r>
              <a:rPr>
                <a:solidFill>
                  <a:srgbClr val="61AFEF"/>
                </a:solidFill>
                <a:latin typeface="Courier"/>
              </a:rPr>
              <a:t>### 1. Clonar el repositorio</a:t>
            </a:r>
            <a:br/>
            <a:r>
              <a:rPr>
                <a:solidFill>
                  <a:srgbClr val="C45B00"/>
                </a:solidFill>
                <a:latin typeface="Courier"/>
              </a:rPr>
              <a:t>```bash</a:t>
            </a:r>
            <a:br/>
            <a:r>
              <a:rPr>
                <a:solidFill>
                  <a:srgbClr val="61AFEF"/>
                </a:solidFill>
                <a:latin typeface="Courier"/>
              </a:rPr>
              <a:t>git</a:t>
            </a:r>
            <a:r>
              <a:rPr>
                <a:solidFill>
                  <a:srgbClr val="ABB2BF"/>
                </a:solidFill>
                <a:latin typeface="Courier"/>
              </a:rPr>
              <a:t> clone https://github.com/dobleaLAB/diagnostico_nps_2025.git</a:t>
            </a:r>
            <a:br/>
            <a:r>
              <a:rPr>
                <a:solidFill>
                  <a:srgbClr val="C678DD"/>
                </a:solidFill>
                <a:latin typeface="Courier"/>
              </a:rPr>
              <a:t>cd</a:t>
            </a:r>
            <a:r>
              <a:rPr>
                <a:solidFill>
                  <a:srgbClr val="ABB2BF"/>
                </a:solidFill>
                <a:latin typeface="Courier"/>
              </a:rPr>
              <a:t> diagnostico_nps_2025</a:t>
            </a:r>
            <a:br/>
            <a:r>
              <a:rPr>
                <a:solidFill>
                  <a:srgbClr val="C45B00"/>
                </a:solidFill>
                <a:latin typeface="Courier"/>
              </a:rPr>
              <a:t>```</a:t>
            </a:r>
            <a:br/>
            <a:br/>
            <a:r>
              <a:rPr>
                <a:solidFill>
                  <a:srgbClr val="61AFEF"/>
                </a:solidFill>
                <a:latin typeface="Courier"/>
              </a:rPr>
              <a:t>### 2. Instalar dependencias</a:t>
            </a:r>
            <a:br/>
            <a:r>
              <a:rPr>
                <a:solidFill>
                  <a:srgbClr val="C45B00"/>
                </a:solidFill>
                <a:latin typeface="Courier"/>
              </a:rPr>
              <a:t>```r</a:t>
            </a:r>
            <a:br/>
            <a:r>
              <a:rPr>
                <a:solidFill>
                  <a:srgbClr val="ABB2BF"/>
                </a:solidFill>
                <a:latin typeface="Courier"/>
              </a:rPr>
              <a:t>renv</a:t>
            </a:r>
            <a:r>
              <a:rPr>
                <a:solidFill>
                  <a:srgbClr val="56B6C2"/>
                </a:solidFill>
                <a:latin typeface="Courier"/>
              </a:rPr>
              <a:t>::</a:t>
            </a:r>
            <a:r>
              <a:rPr>
                <a:solidFill>
                  <a:srgbClr val="61AFEF"/>
                </a:solidFill>
                <a:latin typeface="Courier"/>
              </a:rPr>
              <a:t>restore</a:t>
            </a:r>
            <a:r>
              <a:rPr>
                <a:solidFill>
                  <a:srgbClr val="ABB2BF"/>
                </a:solidFill>
                <a:latin typeface="Courier"/>
              </a:rPr>
              <a:t>()   </a:t>
            </a:r>
            <a:r>
              <a:rPr i="1">
                <a:solidFill>
                  <a:srgbClr val="5C6370"/>
                </a:solidFill>
                <a:latin typeface="Courier"/>
              </a:rPr>
              <a:t># instala exactamente los mismos packages y versiones</a:t>
            </a:r>
            <a:br/>
            <a:r>
              <a:rPr>
                <a:solidFill>
                  <a:srgbClr val="C45B00"/>
                </a:solidFill>
                <a:latin typeface="Courier"/>
              </a:rPr>
              <a:t>```</a:t>
            </a:r>
            <a:br/>
            <a:br/>
            <a:r>
              <a:rPr>
                <a:solidFill>
                  <a:srgbClr val="61AFEF"/>
                </a:solidFill>
                <a:latin typeface="Courier"/>
              </a:rPr>
              <a:t>### 3. Correr el pipeline completo</a:t>
            </a:r>
            <a:br/>
            <a:r>
              <a:rPr>
                <a:solidFill>
                  <a:srgbClr val="C45B00"/>
                </a:solidFill>
                <a:latin typeface="Courier"/>
              </a:rPr>
              <a:t>```r</a:t>
            </a:r>
            <a:br/>
            <a:r>
              <a:rPr>
                <a:solidFill>
                  <a:srgbClr val="61AFEF"/>
                </a:solidFill>
                <a:latin typeface="Courier"/>
              </a:rPr>
              <a:t>source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"code/01_clean.R"</a:t>
            </a:r>
            <a:r>
              <a:rPr>
                <a:solidFill>
                  <a:srgbClr val="ABB2BF"/>
                </a:solidFill>
                <a:latin typeface="Courier"/>
              </a:rPr>
              <a:t>)     </a:t>
            </a:r>
            <a:r>
              <a:rPr i="1">
                <a:solidFill>
                  <a:srgbClr val="5C6370"/>
                </a:solidFill>
                <a:latin typeface="Courier"/>
              </a:rPr>
              <a:t># limpia y estandariza datos</a:t>
            </a:r>
            <a:br/>
            <a:r>
              <a:rPr>
                <a:solidFill>
                  <a:srgbClr val="61AFEF"/>
                </a:solidFill>
                <a:latin typeface="Courier"/>
              </a:rPr>
              <a:t>source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"code/02_analysis.R"</a:t>
            </a:r>
            <a:r>
              <a:rPr>
                <a:solidFill>
                  <a:srgbClr val="ABB2BF"/>
                </a:solidFill>
                <a:latin typeface="Courier"/>
              </a:rPr>
              <a:t>)  </a:t>
            </a:r>
            <a:r>
              <a:rPr i="1">
                <a:solidFill>
                  <a:srgbClr val="5C6370"/>
                </a:solidFill>
                <a:latin typeface="Courier"/>
              </a:rPr>
              <a:t># análisis exploratorio y modelos</a:t>
            </a:r>
            <a:br/>
            <a:r>
              <a:rPr>
                <a:solidFill>
                  <a:srgbClr val="61AFEF"/>
                </a:solidFill>
                <a:latin typeface="Courier"/>
              </a:rPr>
              <a:t>source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"code/03_figures.R"</a:t>
            </a:r>
            <a:r>
              <a:rPr>
                <a:solidFill>
                  <a:srgbClr val="ABB2BF"/>
                </a:solidFill>
                <a:latin typeface="Courier"/>
              </a:rPr>
              <a:t>)   </a:t>
            </a:r>
            <a:r>
              <a:rPr i="1">
                <a:solidFill>
                  <a:srgbClr val="5C6370"/>
                </a:solidFill>
                <a:latin typeface="Courier"/>
              </a:rPr>
              <a:t># genera gráficos en output/figures/</a:t>
            </a:r>
            <a:br/>
            <a:r>
              <a:rPr>
                <a:solidFill>
                  <a:srgbClr val="ABB2BF"/>
                </a:solidFill>
                <a:latin typeface="Courier"/>
              </a:rPr>
              <a:t>quarto render docs</a:t>
            </a:r>
            <a:r>
              <a:rPr>
                <a:solidFill>
                  <a:srgbClr val="56B6C2"/>
                </a:solidFill>
                <a:latin typeface="Courier"/>
              </a:rPr>
              <a:t>/</a:t>
            </a:r>
            <a:r>
              <a:rPr>
                <a:solidFill>
                  <a:srgbClr val="ABB2BF"/>
                </a:solidFill>
                <a:latin typeface="Courier"/>
              </a:rPr>
              <a:t>reporte.qmd  </a:t>
            </a:r>
            <a:r>
              <a:rPr i="1">
                <a:solidFill>
                  <a:srgbClr val="5C6370"/>
                </a:solidFill>
                <a:latin typeface="Courier"/>
              </a:rPr>
              <a:t># produce el reporte final</a:t>
            </a:r>
            <a:br/>
            <a:r>
              <a:rPr>
                <a:solidFill>
                  <a:srgbClr val="C45B00"/>
                </a:solidFill>
                <a:latin typeface="Courier"/>
              </a:rPr>
              <a:t>```</a:t>
            </a:r>
            <a:br/>
            <a:br/>
            <a:r>
              <a:rPr>
                <a:solidFill>
                  <a:srgbClr val="61AFEF"/>
                </a:solidFill>
                <a:latin typeface="Courier"/>
              </a:rPr>
              <a:t>### 4. Reportes regionales (opcional)</a:t>
            </a:r>
            <a:br/>
            <a:r>
              <a:rPr>
                <a:solidFill>
                  <a:srgbClr val="C45B00"/>
                </a:solidFill>
                <a:latin typeface="Courier"/>
              </a:rPr>
              <a:t>```r</a:t>
            </a:r>
            <a:br/>
            <a:r>
              <a:rPr>
                <a:solidFill>
                  <a:srgbClr val="61AFEF"/>
                </a:solidFill>
                <a:latin typeface="Courier"/>
              </a:rPr>
              <a:t>source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"code/04_render_regiones.R"</a:t>
            </a:r>
            <a:r>
              <a:rPr>
                <a:solidFill>
                  <a:srgbClr val="ABB2BF"/>
                </a:solidFill>
                <a:latin typeface="Courier"/>
              </a:rPr>
              <a:t>)  </a:t>
            </a:r>
            <a:r>
              <a:rPr i="1">
                <a:solidFill>
                  <a:srgbClr val="5C6370"/>
                </a:solidFill>
                <a:latin typeface="Courier"/>
              </a:rPr>
              <a:t># genera 6 reportes, uno por región</a:t>
            </a:r>
            <a:br/>
            <a:r>
              <a:rPr>
                <a:solidFill>
                  <a:srgbClr val="C45B00"/>
                </a:solidFill>
                <a:latin typeface="Courier"/>
              </a:rPr>
              <a:t>```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Iteración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Iteración</a:t>
            </a:r>
          </a:p>
          <a:p>
            <a:pPr lvl="0" indent="0" marL="0">
              <a:buNone/>
            </a:pPr>
          </a:p>
          <a:p>
            <a:pPr lvl="0"/>
            <a:r>
              <a:rPr/>
              <a:t>Principio DRY — </a:t>
            </a:r>
            <a:r>
              <a:rPr i="1"/>
              <a:t>Don’t Repeat Yourself</a:t>
            </a:r>
          </a:p>
          <a:p>
            <a:pPr lvl="0"/>
            <a:r>
              <a:rPr/>
              <a:t>Hacer N veces lo mismo sin escribir N veces el código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¿Qué problema resuelve?</a:t>
            </a:r>
          </a:p>
          <a:p>
            <a:pPr lvl="0" indent="0" marL="0">
              <a:buNone/>
            </a:pP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🩺 Problema:</a:t>
            </a:r>
            <a:r>
              <a:rPr sz="2000"/>
              <a:t> </a:t>
            </a:r>
            <a:r>
              <a:rPr sz="2000" i="1"/>
              <a:t>“tengo que hacer el mismo análisis para 6 regiones / 12 meses / 30 productos”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1270000">
              <a:buNone/>
            </a:pPr>
            <a:r>
              <a:rPr sz="2000" b="1"/>
              <a:t>Principio DRY — </a:t>
            </a:r>
            <a:r>
              <a:rPr sz="2000" b="1" i="1"/>
              <a:t>Don’t Repeat Yourself</a:t>
            </a:r>
          </a:p>
          <a:p>
            <a:pPr lvl="0" indent="0" marL="1270000">
              <a:buNone/>
            </a:pPr>
            <a:r>
              <a:rPr sz="2000"/>
              <a:t>Si copias y pegas código más de </a:t>
            </a:r>
            <a:r>
              <a:rPr sz="2000" b="1"/>
              <a:t>dos veces</a:t>
            </a:r>
            <a:r>
              <a:rPr sz="2000"/>
              <a:t>, hay una mejor manera.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Menos código → menos errores → más confianza.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El problema: repetición manual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solidFill>
                  <a:srgbClr val="ABB2BF"/>
                </a:solidFill>
                <a:latin typeface="Courier"/>
              </a:rPr>
              <a:t>media_metro 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mean</a:t>
            </a:r>
            <a:r>
              <a:rPr>
                <a:solidFill>
                  <a:srgbClr val="ABB2BF"/>
                </a:solidFill>
                <a:latin typeface="Courier"/>
              </a:rPr>
              <a:t>(clientes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nps[clientes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region </a:t>
            </a:r>
            <a:r>
              <a:rPr>
                <a:solidFill>
                  <a:srgbClr val="56B6C2"/>
                </a:solidFill>
                <a:latin typeface="Courier"/>
              </a:rPr>
              <a:t>==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98C379"/>
                </a:solidFill>
                <a:latin typeface="Courier"/>
              </a:rPr>
              <a:t>"Metropolitana"</a:t>
            </a:r>
            <a:r>
              <a:rPr>
                <a:solidFill>
                  <a:srgbClr val="ABB2BF"/>
                </a:solidFill>
                <a:latin typeface="Courier"/>
              </a:rPr>
              <a:t>], </a:t>
            </a:r>
            <a:r>
              <a:rPr>
                <a:solidFill>
                  <a:srgbClr val="C678DD"/>
                </a:solidFill>
                <a:latin typeface="Courier"/>
              </a:rPr>
              <a:t>na.rm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D19A66"/>
                </a:solidFill>
                <a:latin typeface="Courier"/>
              </a:rPr>
              <a:t>TRUE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media_valpo 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mean</a:t>
            </a:r>
            <a:r>
              <a:rPr>
                <a:solidFill>
                  <a:srgbClr val="ABB2BF"/>
                </a:solidFill>
                <a:latin typeface="Courier"/>
              </a:rPr>
              <a:t>(clientes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nps[clientes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region </a:t>
            </a:r>
            <a:r>
              <a:rPr>
                <a:solidFill>
                  <a:srgbClr val="56B6C2"/>
                </a:solidFill>
                <a:latin typeface="Courier"/>
              </a:rPr>
              <a:t>==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98C379"/>
                </a:solidFill>
                <a:latin typeface="Courier"/>
              </a:rPr>
              <a:t>"Valparaíso"</a:t>
            </a:r>
            <a:r>
              <a:rPr>
                <a:solidFill>
                  <a:srgbClr val="ABB2BF"/>
                </a:solidFill>
                <a:latin typeface="Courier"/>
              </a:rPr>
              <a:t>],    </a:t>
            </a:r>
            <a:r>
              <a:rPr>
                <a:solidFill>
                  <a:srgbClr val="C678DD"/>
                </a:solidFill>
                <a:latin typeface="Courier"/>
              </a:rPr>
              <a:t>na.rm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D19A66"/>
                </a:solidFill>
                <a:latin typeface="Courier"/>
              </a:rPr>
              <a:t>TRUE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media_biobio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mean</a:t>
            </a:r>
            <a:r>
              <a:rPr>
                <a:solidFill>
                  <a:srgbClr val="ABB2BF"/>
                </a:solidFill>
                <a:latin typeface="Courier"/>
              </a:rPr>
              <a:t>(clientes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nps[clientes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region </a:t>
            </a:r>
            <a:r>
              <a:rPr>
                <a:solidFill>
                  <a:srgbClr val="56B6C2"/>
                </a:solidFill>
                <a:latin typeface="Courier"/>
              </a:rPr>
              <a:t>==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98C379"/>
                </a:solidFill>
                <a:latin typeface="Courier"/>
              </a:rPr>
              <a:t>"Biobío"</a:t>
            </a:r>
            <a:r>
              <a:rPr>
                <a:solidFill>
                  <a:srgbClr val="ABB2BF"/>
                </a:solidFill>
                <a:latin typeface="Courier"/>
              </a:rPr>
              <a:t>],        </a:t>
            </a:r>
            <a:r>
              <a:rPr>
                <a:solidFill>
                  <a:srgbClr val="C678DD"/>
                </a:solidFill>
                <a:latin typeface="Courier"/>
              </a:rPr>
              <a:t>na.rm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D19A66"/>
                </a:solidFill>
                <a:latin typeface="Courier"/>
              </a:rPr>
              <a:t>TRUE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¿Qué pasa cuando hay </a:t>
            </a:r>
            <a:r>
              <a:rPr b="1"/>
              <a:t>6 regiones</a:t>
            </a:r>
            <a:r>
              <a:rPr/>
              <a:t>? ¿O </a:t>
            </a:r>
            <a:r>
              <a:rPr b="1"/>
              <a:t>16</a:t>
            </a:r>
            <a:r>
              <a:rPr/>
              <a:t>? ¿O cuando se agrega otra variable?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La solución: el </a:t>
            </a:r>
            <a:r>
              <a:rPr b="1">
                <a:latin typeface="Courier"/>
              </a:rPr>
              <a:t>for</a:t>
            </a:r>
            <a:r>
              <a:rPr b="1"/>
              <a:t> loop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solidFill>
                  <a:srgbClr val="C678DD"/>
                </a:solidFill>
                <a:latin typeface="Courier"/>
              </a:rPr>
              <a:t>for</a:t>
            </a:r>
            <a:r>
              <a:rPr>
                <a:solidFill>
                  <a:srgbClr val="ABB2BF"/>
                </a:solidFill>
                <a:latin typeface="Courier"/>
              </a:rPr>
              <a:t> (r </a:t>
            </a:r>
            <a:r>
              <a:rPr>
                <a:solidFill>
                  <a:srgbClr val="C678DD"/>
                </a:solidFill>
                <a:latin typeface="Courier"/>
              </a:rPr>
              <a:t>in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unique</a:t>
            </a:r>
            <a:r>
              <a:rPr>
                <a:solidFill>
                  <a:srgbClr val="ABB2BF"/>
                </a:solidFill>
                <a:latin typeface="Courier"/>
              </a:rPr>
              <a:t>(clientes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region)) {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media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mean</a:t>
            </a:r>
            <a:r>
              <a:rPr>
                <a:solidFill>
                  <a:srgbClr val="ABB2BF"/>
                </a:solidFill>
                <a:latin typeface="Courier"/>
              </a:rPr>
              <a:t>(clientes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nps[clientes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region </a:t>
            </a:r>
            <a:r>
              <a:rPr>
                <a:solidFill>
                  <a:srgbClr val="56B6C2"/>
                </a:solidFill>
                <a:latin typeface="Courier"/>
              </a:rPr>
              <a:t>==</a:t>
            </a:r>
            <a:r>
              <a:rPr>
                <a:solidFill>
                  <a:srgbClr val="ABB2BF"/>
                </a:solidFill>
                <a:latin typeface="Courier"/>
              </a:rPr>
              <a:t> r], </a:t>
            </a:r>
            <a:r>
              <a:rPr>
                <a:solidFill>
                  <a:srgbClr val="C678DD"/>
                </a:solidFill>
                <a:latin typeface="Courier"/>
              </a:rPr>
              <a:t>na.rm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D19A66"/>
                </a:solidFill>
                <a:latin typeface="Courier"/>
              </a:rPr>
              <a:t>TRUE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cat</a:t>
            </a:r>
            <a:r>
              <a:rPr>
                <a:solidFill>
                  <a:srgbClr val="ABB2BF"/>
                </a:solidFill>
                <a:latin typeface="Courier"/>
              </a:rPr>
              <a:t>(r, </a:t>
            </a:r>
            <a:r>
              <a:rPr>
                <a:solidFill>
                  <a:srgbClr val="98C379"/>
                </a:solidFill>
                <a:latin typeface="Courier"/>
              </a:rPr>
              <a:t>"→ NPS medio:"</a:t>
            </a:r>
            <a:r>
              <a:rPr>
                <a:solidFill>
                  <a:srgbClr val="ABB2BF"/>
                </a:solidFill>
                <a:latin typeface="Courier"/>
              </a:rPr>
              <a:t>, </a:t>
            </a:r>
            <a:r>
              <a:rPr>
                <a:solidFill>
                  <a:srgbClr val="61AFEF"/>
                </a:solidFill>
                <a:latin typeface="Courier"/>
              </a:rPr>
              <a:t>round</a:t>
            </a:r>
            <a:r>
              <a:rPr>
                <a:solidFill>
                  <a:srgbClr val="ABB2BF"/>
                </a:solidFill>
                <a:latin typeface="Courier"/>
              </a:rPr>
              <a:t>(media, </a:t>
            </a:r>
            <a:r>
              <a:rPr>
                <a:solidFill>
                  <a:srgbClr val="D19A66"/>
                </a:solidFill>
                <a:latin typeface="Courier"/>
              </a:rPr>
              <a:t>1</a:t>
            </a:r>
            <a:r>
              <a:rPr>
                <a:solidFill>
                  <a:srgbClr val="ABB2BF"/>
                </a:solidFill>
                <a:latin typeface="Courier"/>
              </a:rPr>
              <a:t>), </a:t>
            </a:r>
            <a:r>
              <a:rPr>
                <a:solidFill>
                  <a:srgbClr val="98C379"/>
                </a:solidFill>
                <a:latin typeface="Courier"/>
              </a:rPr>
              <a:t>"</a:t>
            </a:r>
            <a:r>
              <a:rPr>
                <a:solidFill>
                  <a:srgbClr val="56B6C2"/>
                </a:solidFill>
                <a:latin typeface="Courier"/>
              </a:rPr>
              <a:t>\n</a:t>
            </a:r>
            <a:r>
              <a:rPr>
                <a:solidFill>
                  <a:srgbClr val="98C379"/>
                </a:solidFill>
                <a:latin typeface="Courier"/>
              </a:rPr>
              <a:t>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}</a:t>
            </a:r>
          </a:p>
          <a:p>
            <a:pPr lvl="0" indent="0">
              <a:buNone/>
            </a:pPr>
            <a:r>
              <a:rPr>
                <a:latin typeface="Courier"/>
              </a:rPr>
              <a:t>Antofagasta → NPS medio: 47 
Valparaíso → NPS medio: 38.8 
Araucanía → NPS medio: 31.9 
Metropolitana → NPS medio: 36.9 
Biobío → NPS medio: 36.3 
Los Lagos → NPS medio: 49.6 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Una sola estructura. Funciona con 6, 16 o 60 regiones.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· Reportes y presentaciones con R/Python integrado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¿Qué problema resuelve Quarto?</a:t>
            </a:r>
          </a:p>
          <a:p>
            <a:pPr lvl="0" indent="0" marL="0">
              <a:buNone/>
            </a:pP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🩺 Problemas que resuelve:</a:t>
            </a:r>
          </a:p>
          <a:p>
            <a:pPr lvl="0"/>
            <a:r>
              <a:rPr sz="2000" i="1"/>
              <a:t>“Hay que actualizar el reporte con los datos de mayo”</a:t>
            </a:r>
            <a:r>
              <a:rPr sz="2000"/>
              <a:t> → 2 horas de copiar y pegar</a:t>
            </a:r>
          </a:p>
          <a:p>
            <a:pPr lvl="0"/>
            <a:r>
              <a:rPr sz="2000" i="1"/>
              <a:t>“El cliente quiere un reporte por cada una de sus 6 regiones”</a:t>
            </a:r>
            <a:r>
              <a:rPr sz="2000"/>
              <a:t> → ¿hago 6 Word distintos?</a:t>
            </a:r>
          </a:p>
          <a:p>
            <a:pPr lvl="0"/>
            <a:r>
              <a:rPr sz="2000" i="1"/>
              <a:t>“Necesito que el gráfico y la tabla cuadren con el texto”</a:t>
            </a:r>
            <a:r>
              <a:rPr sz="2000"/>
              <a:t> → siempre se desincronizan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Quarto une texto, código y resultados en un solo archivo.</a:t>
            </a:r>
            <a:br/>
            <a:r>
              <a:rPr/>
              <a:t>Cambian los datos → todo el reporte se regenera solo.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¿Qué es Quarto?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Un </a:t>
            </a:r>
            <a:r>
              <a:rPr b="1"/>
              <a:t>formato de documento integrado</a:t>
            </a:r>
            <a:r>
              <a:rPr/>
              <a:t> que combina:</a:t>
            </a:r>
          </a:p>
          <a:p>
            <a:pPr lvl="0" indent="0" marL="0">
              <a:buNone/>
            </a:pP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Texto</a:t>
            </a:r>
          </a:p>
          <a:p>
            <a:pPr lvl="0" indent="0" marL="0">
              <a:buNone/>
            </a:pPr>
            <a:r>
              <a:rPr/>
              <a:t>Markdown,</a:t>
            </a:r>
            <a:br/>
            <a:r>
              <a:rPr/>
              <a:t>ecuaciones,</a:t>
            </a:r>
            <a:br/>
            <a:r>
              <a:rPr/>
              <a:t>imágenes,</a:t>
            </a:r>
            <a:br/>
            <a:r>
              <a:rPr/>
              <a:t>tablas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Código</a:t>
            </a:r>
          </a:p>
          <a:p>
            <a:pPr lvl="0" indent="0" marL="0">
              <a:buNone/>
            </a:pPr>
            <a:r>
              <a:rPr/>
              <a:t>Chunks de R,</a:t>
            </a:r>
            <a:br/>
            <a:r>
              <a:rPr/>
              <a:t>Python, Julia,</a:t>
            </a:r>
            <a:br/>
            <a:r>
              <a:rPr/>
              <a:t>Bash —</a:t>
            </a:r>
            <a:br/>
            <a:r>
              <a:rPr/>
              <a:t>o los cuatro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Un mismo archivo </a:t>
            </a:r>
            <a:r>
              <a:rPr>
                <a:latin typeface="Courier"/>
              </a:rPr>
              <a:t>.qmd</a:t>
            </a:r>
            <a:r>
              <a:rPr/>
              <a:t> puede convertirse en HTML, Word, PDF, o esta misma presentación.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¿Qué se puede producir con Quarto?</a:t>
            </a:r>
          </a:p>
          <a:p>
            <a:pPr lvl="0" indent="0" marL="0">
              <a:buNone/>
            </a:p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Para qué sirve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HTML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Reporte interactivo para enviar por mail / publicar en web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Documento final formal · papers · entregables firmados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Word (.docx)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Cuando el cliente edita en Word y no se mueve de ahí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Reveal.js slides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Presentaciones (como </a:t>
                      </a:r>
                      <a:r>
                        <a:rPr b="1"/>
                        <a:t>esta misma</a:t>
                      </a:r>
                      <a:r>
                        <a:rPr/>
                        <a:t>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PowerPoint (.pptx)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Cuando la organización solo acepta PPT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Dashboard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Tableros con KPIs interactivos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Sitio web / libro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Documentación de proyectos completos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El mismo </a:t>
            </a:r>
            <a:r>
              <a:rPr b="1">
                <a:latin typeface="Courier"/>
              </a:rPr>
              <a:t>.qmd</a:t>
            </a:r>
            <a:r>
              <a:rPr b="1"/>
              <a:t>, distinto output.</a:t>
            </a:r>
            <a:r>
              <a:rPr/>
              <a:t> Sin reescribir contenido.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Anatomía de un documento Quarto</a:t>
            </a:r>
          </a:p>
          <a:p>
            <a:pPr lvl="0" indent="0">
              <a:buNone/>
            </a:pPr>
            <a:r>
              <a:rPr i="1">
                <a:solidFill>
                  <a:srgbClr val="5C6370"/>
                </a:solidFill>
                <a:latin typeface="Courier"/>
              </a:rPr>
              <a:t>---</a:t>
            </a:r>
            <a:br/>
            <a:r>
              <a:rPr>
                <a:solidFill>
                  <a:srgbClr val="98C379"/>
                </a:solidFill>
                <a:latin typeface="Courier"/>
              </a:rPr>
              <a:t>title:</a:t>
            </a:r>
            <a:r>
              <a:rPr i="1">
                <a:solidFill>
                  <a:srgbClr val="5C6370"/>
                </a:solidFill>
                <a:latin typeface="Courier"/>
              </a:rPr>
              <a:t> "Estudio NPS · Metropolitana"</a:t>
            </a:r>
            <a:br/>
            <a:r>
              <a:rPr>
                <a:solidFill>
                  <a:srgbClr val="98C379"/>
                </a:solidFill>
                <a:latin typeface="Courier"/>
              </a:rPr>
              <a:t>author:</a:t>
            </a:r>
            <a:r>
              <a:rPr i="1">
                <a:solidFill>
                  <a:srgbClr val="5C6370"/>
                </a:solidFill>
                <a:latin typeface="Courier"/>
              </a:rPr>
              <a:t> "DobleA LAB"</a:t>
            </a:r>
            <a:br/>
            <a:r>
              <a:rPr>
                <a:solidFill>
                  <a:srgbClr val="98C379"/>
                </a:solidFill>
                <a:latin typeface="Courier"/>
              </a:rPr>
              <a:t>format:</a:t>
            </a:r>
            <a:r>
              <a:rPr i="1">
                <a:solidFill>
                  <a:srgbClr val="5C6370"/>
                </a:solidFill>
                <a:latin typeface="Courier"/>
              </a:rPr>
              <a:t> html              ← acá decides el output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---</a:t>
            </a:r>
            <a:br/>
            <a:br/>
            <a:r>
              <a:rPr>
                <a:solidFill>
                  <a:srgbClr val="61AFEF"/>
                </a:solidFill>
                <a:latin typeface="Courier"/>
              </a:rPr>
              <a:t>## Resumen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La muestra contiene 150 empresas en 6 regiones.</a:t>
            </a:r>
            <a:br/>
            <a:br/>
            <a:r>
              <a:rPr>
                <a:solidFill>
                  <a:srgbClr val="C45B00"/>
                </a:solidFill>
                <a:latin typeface="Courier"/>
              </a:rPr>
              <a:t>```{r}</a:t>
            </a:r>
            <a:br/>
            <a:r>
              <a:rPr>
                <a:solidFill>
                  <a:srgbClr val="61AFEF"/>
                </a:solidFill>
                <a:latin typeface="Courier"/>
              </a:rPr>
              <a:t>library</a:t>
            </a:r>
            <a:r>
              <a:rPr>
                <a:solidFill>
                  <a:srgbClr val="ABB2B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clientes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read_csv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"data/clean/clientes.csv"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r>
              <a:rPr>
                <a:solidFill>
                  <a:srgbClr val="61AFEF"/>
                </a:solidFill>
                <a:latin typeface="Courier"/>
              </a:rPr>
              <a:t>mean</a:t>
            </a:r>
            <a:r>
              <a:rPr>
                <a:solidFill>
                  <a:srgbClr val="ABB2BF"/>
                </a:solidFill>
                <a:latin typeface="Courier"/>
              </a:rPr>
              <a:t>(clientes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nps, </a:t>
            </a:r>
            <a:r>
              <a:rPr>
                <a:solidFill>
                  <a:srgbClr val="C678DD"/>
                </a:solidFill>
                <a:latin typeface="Courier"/>
              </a:rPr>
              <a:t>na.rm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D19A66"/>
                </a:solidFill>
                <a:latin typeface="Courier"/>
              </a:rPr>
              <a:t>TRUE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r>
              <a:rPr>
                <a:solidFill>
                  <a:srgbClr val="C45B00"/>
                </a:solidFill>
                <a:latin typeface="Courier"/>
              </a:rPr>
              <a:t>```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El gráfico siguiente muestra la distribución por región...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Tres bloques: </a:t>
            </a:r>
            <a:r>
              <a:rPr b="1"/>
              <a:t>YAML</a:t>
            </a:r>
            <a:r>
              <a:rPr/>
              <a:t> (configuración), </a:t>
            </a:r>
            <a:r>
              <a:rPr b="1"/>
              <a:t>texto markdown</a:t>
            </a:r>
            <a:r>
              <a:rPr/>
              <a:t>, </a:t>
            </a:r>
            <a:r>
              <a:rPr b="1"/>
              <a:t>chunks de código</a:t>
            </a:r>
            <a:r>
              <a:rPr/>
              <a:t>.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El YAML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5C6370"/>
                </a:solidFill>
                <a:latin typeface="Courier"/>
              </a:rPr>
              <a:t>---</a:t>
            </a:r>
            <a:br/>
            <a:r>
              <a:rPr>
                <a:solidFill>
                  <a:srgbClr val="98C379"/>
                </a:solidFill>
                <a:latin typeface="Courier"/>
              </a:rPr>
              <a:t>title:</a:t>
            </a:r>
            <a:r>
              <a:rPr i="1">
                <a:solidFill>
                  <a:srgbClr val="5C6370"/>
                </a:solidFill>
                <a:latin typeface="Courier"/>
              </a:rPr>
              <a:t> "Estudio NPS 2025"</a:t>
            </a:r>
            <a:br/>
            <a:r>
              <a:rPr>
                <a:solidFill>
                  <a:srgbClr val="98C379"/>
                </a:solidFill>
                <a:latin typeface="Courier"/>
              </a:rPr>
              <a:t>author:</a:t>
            </a:r>
            <a:r>
              <a:rPr i="1">
                <a:solidFill>
                  <a:srgbClr val="5C6370"/>
                </a:solidFill>
                <a:latin typeface="Courier"/>
              </a:rPr>
              <a:t> "Mauricio Bucca"</a:t>
            </a:r>
            <a:br/>
            <a:r>
              <a:rPr>
                <a:solidFill>
                  <a:srgbClr val="98C379"/>
                </a:solidFill>
                <a:latin typeface="Courier"/>
              </a:rPr>
              <a:t>date:</a:t>
            </a:r>
            <a:r>
              <a:rPr i="1">
                <a:solidFill>
                  <a:srgbClr val="5C6370"/>
                </a:solidFill>
                <a:latin typeface="Courier"/>
              </a:rPr>
              <a:t> today</a:t>
            </a:r>
            <a:br/>
            <a:r>
              <a:rPr>
                <a:solidFill>
                  <a:srgbClr val="98C379"/>
                </a:solidFill>
                <a:latin typeface="Courier"/>
              </a:rPr>
              <a:t>format: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  html: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    toc: true              # tabla de contenidos automática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    code-fold: true        # código plegable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  pdf: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    documentclass: article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  docx: default</a:t>
            </a:r>
            <a:br/>
            <a:r>
              <a:rPr>
                <a:solidFill>
                  <a:srgbClr val="98C379"/>
                </a:solidFill>
                <a:latin typeface="Courier"/>
              </a:rPr>
              <a:t>execute: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  echo: false              # no mostrar el código en el output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  warning: false           # silenciar advertencias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---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Cambias una línea y el mismo archivo se convierte en HTML, PDF o Word.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Chunks de código: el motor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solidFill>
                  <a:srgbClr val="C45B00"/>
                </a:solidFill>
                <a:latin typeface="Courier"/>
              </a:rPr>
              <a:t>```{r}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#| echo: false       ← no mostrar el código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#| fig-width: 8      ← controlar tamaño del gráfico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#| fig-cap: "NPS por región"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clientes </a:t>
            </a:r>
            <a:r>
              <a:rPr>
                <a:solidFill>
                  <a:srgbClr val="56B6C2"/>
                </a:solidFill>
                <a:latin typeface="Courier"/>
              </a:rPr>
              <a:t>|&gt;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ggplot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61AFEF"/>
                </a:solidFill>
                <a:latin typeface="Courier"/>
              </a:rPr>
              <a:t>aes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C678DD"/>
                </a:solidFill>
                <a:latin typeface="Courier"/>
              </a:rPr>
              <a:t>x =</a:t>
            </a:r>
            <a:r>
              <a:rPr>
                <a:solidFill>
                  <a:srgbClr val="ABB2BF"/>
                </a:solidFill>
                <a:latin typeface="Courier"/>
              </a:rPr>
              <a:t> region, </a:t>
            </a:r>
            <a:r>
              <a:rPr>
                <a:solidFill>
                  <a:srgbClr val="C678DD"/>
                </a:solidFill>
                <a:latin typeface="Courier"/>
              </a:rPr>
              <a:t>y =</a:t>
            </a:r>
            <a:r>
              <a:rPr>
                <a:solidFill>
                  <a:srgbClr val="ABB2BF"/>
                </a:solidFill>
                <a:latin typeface="Courier"/>
              </a:rPr>
              <a:t> nps)) </a:t>
            </a:r>
            <a:r>
              <a:rPr>
                <a:solidFill>
                  <a:srgbClr val="56B6C2"/>
                </a:solidFill>
                <a:latin typeface="Courier"/>
              </a:rPr>
              <a:t>+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geom_boxplot</a:t>
            </a:r>
            <a:r>
              <a:rPr>
                <a:solidFill>
                  <a:srgbClr val="ABB2BF"/>
                </a:solidFill>
                <a:latin typeface="Courier"/>
              </a:rPr>
              <a:t>()</a:t>
            </a:r>
            <a:br/>
            <a:r>
              <a:rPr>
                <a:solidFill>
                  <a:srgbClr val="C45B00"/>
                </a:solidFill>
                <a:latin typeface="Courier"/>
              </a:rPr>
              <a:t>```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Opciones de chunk</a:t>
            </a:r>
            <a:r>
              <a:rPr/>
              <a:t> más usadas:</a:t>
            </a:r>
          </a:p>
          <a:p>
            <a:pPr lvl="0"/>
            <a:r>
              <a:rPr>
                <a:latin typeface="Courier"/>
              </a:rPr>
              <a:t>echo: false</a:t>
            </a:r>
            <a:r>
              <a:rPr/>
              <a:t> — ejecutar pero no mostrar el código</a:t>
            </a:r>
          </a:p>
          <a:p>
            <a:pPr lvl="0"/>
            <a:r>
              <a:rPr>
                <a:latin typeface="Courier"/>
              </a:rPr>
              <a:t>eval: false</a:t>
            </a:r>
            <a:r>
              <a:rPr/>
              <a:t> — mostrar el código pero no ejecutarlo</a:t>
            </a:r>
          </a:p>
          <a:p>
            <a:pPr lvl="0"/>
            <a:r>
              <a:rPr>
                <a:latin typeface="Courier"/>
              </a:rPr>
              <a:t>warning: false</a:t>
            </a:r>
            <a:r>
              <a:rPr/>
              <a:t> / </a:t>
            </a:r>
            <a:r>
              <a:rPr>
                <a:latin typeface="Courier"/>
              </a:rPr>
              <a:t>message: false</a:t>
            </a:r>
            <a:r>
              <a:rPr/>
              <a:t> — silenciar advertencias</a:t>
            </a:r>
          </a:p>
          <a:p>
            <a:pPr lvl="0"/>
            <a:r>
              <a:rPr>
                <a:latin typeface="Courier"/>
              </a:rPr>
              <a:t>fig-width</a:t>
            </a:r>
            <a:r>
              <a:rPr/>
              <a:t> / </a:t>
            </a:r>
            <a:r>
              <a:rPr>
                <a:latin typeface="Courier"/>
              </a:rPr>
              <a:t>fig-height</a:t>
            </a:r>
            <a:r>
              <a:rPr/>
              <a:t> — tamaño del gráfico</a:t>
            </a:r>
          </a:p>
          <a:p>
            <a:pPr lvl="0"/>
            <a:r>
              <a:rPr>
                <a:latin typeface="Courier"/>
              </a:rPr>
              <a:t>cache: true</a:t>
            </a:r>
            <a:r>
              <a:rPr/>
              <a:t> — guardar resultado (útil para chunks lentos)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Valores inline: el número vive en el código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solidFill>
                  <a:srgbClr val="ABB2BF"/>
                </a:solidFill>
                <a:latin typeface="Courier"/>
              </a:rPr>
              <a:t>La muestra contiene </a:t>
            </a:r>
            <a:r>
              <a:rPr>
                <a:solidFill>
                  <a:srgbClr val="C45B00"/>
                </a:solidFill>
                <a:latin typeface="Courier"/>
              </a:rPr>
              <a:t>`{r} nrow(clientes)`</a:t>
            </a:r>
            <a:r>
              <a:rPr>
                <a:solidFill>
                  <a:srgbClr val="ABB2BF"/>
                </a:solidFill>
                <a:latin typeface="Courier"/>
              </a:rPr>
              <a:t> empresas </a:t>
            </a:r>
            <a:br/>
            <a:r>
              <a:rPr>
                <a:solidFill>
                  <a:srgbClr val="ABB2BF"/>
                </a:solidFill>
                <a:latin typeface="Courier"/>
              </a:rPr>
              <a:t>de </a:t>
            </a:r>
            <a:r>
              <a:rPr>
                <a:solidFill>
                  <a:srgbClr val="C45B00"/>
                </a:solidFill>
                <a:latin typeface="Courier"/>
              </a:rPr>
              <a:t>`{r} n_distinct(clientes$region)`</a:t>
            </a:r>
            <a:r>
              <a:rPr>
                <a:solidFill>
                  <a:srgbClr val="ABB2BF"/>
                </a:solidFill>
                <a:latin typeface="Courier"/>
              </a:rPr>
              <a:t> regiones.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El NPS promedio es **`{r} round(mean(clientes$nps, na.rm=TRUE), 1)`**.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Cambian los datos → los números del texto se actualizan solos.</a:t>
            </a:r>
          </a:p>
          <a:p>
            <a:pPr lvl="0" indent="0" marL="0">
              <a:buNone/>
            </a:pPr>
            <a:r>
              <a:rPr/>
              <a:t>Nunca más copiar resultados a mano al Word.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¿Cómo se ve en la práctica?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La feature que cambia todo: parámetros</a:t>
            </a:r>
          </a:p>
          <a:p>
            <a:pPr lvl="0" indent="0" marL="0">
              <a:buNone/>
            </a:pP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🩺 Problema:</a:t>
            </a:r>
            <a:r>
              <a:rPr sz="2000"/>
              <a:t> </a:t>
            </a:r>
            <a:r>
              <a:rPr sz="2000" i="1"/>
              <a:t>“6 regiones × un reporte por cada una = 6 reportes idénticos en estructura, distintos en datos”</a:t>
            </a:r>
          </a:p>
          <a:p>
            <a:pPr lvl="0" indent="0" marL="0">
              <a:buNone/>
            </a:pP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❌ A mano</a:t>
            </a:r>
          </a:p>
          <a:p>
            <a:pPr lvl="0" indent="-342900" marL="342900">
              <a:buAutoNum type="arabicPeriod"/>
            </a:pPr>
            <a:r>
              <a:rPr/>
              <a:t>Copiar </a:t>
            </a:r>
            <a:r>
              <a:rPr>
                <a:latin typeface="Courier"/>
              </a:rPr>
              <a:t>.qmd</a:t>
            </a:r>
            <a:r>
              <a:rPr/>
              <a:t> 6 veces</a:t>
            </a:r>
          </a:p>
          <a:p>
            <a:pPr lvl="0" indent="-342900" marL="342900">
              <a:buAutoNum type="arabicPeriod"/>
            </a:pPr>
            <a:r>
              <a:rPr/>
              <a:t>Cambiar el filtro en cada uno</a:t>
            </a:r>
          </a:p>
          <a:p>
            <a:pPr lvl="0" indent="-342900" marL="342900">
              <a:buAutoNum type="arabicPeriod"/>
            </a:pPr>
            <a:r>
              <a:rPr/>
              <a:t>Renderizar uno por uno</a:t>
            </a:r>
          </a:p>
          <a:p>
            <a:pPr lvl="0" indent="-342900" marL="342900">
              <a:buAutoNum type="arabicPeriod"/>
            </a:pPr>
            <a:r>
              <a:rPr b="1"/>
              <a:t>Resultado:</a:t>
            </a:r>
            <a:r>
              <a:rPr/>
              <a:t> 6 archivos desincronizados</a:t>
            </a:r>
          </a:p>
          <a:p>
            <a:pPr lvl="0" indent="-342900" marL="342900">
              <a:buAutoNum type="arabicPeriod"/>
            </a:pPr>
            <a:r>
              <a:rPr b="1"/>
              <a:t>Garantía:</a:t>
            </a:r>
            <a:r>
              <a:rPr/>
              <a:t> habrá un error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Quarto con parámetros: cómo se declaran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En el YAML del documento:</a:t>
            </a:r>
          </a:p>
          <a:p>
            <a:pPr lvl="0" indent="0">
              <a:buNone/>
            </a:pPr>
            <a:r>
              <a:rPr i="1">
                <a:solidFill>
                  <a:srgbClr val="5C6370"/>
                </a:solidFill>
                <a:latin typeface="Courier"/>
              </a:rPr>
              <a:t>---</a:t>
            </a:r>
            <a:br/>
            <a:r>
              <a:rPr>
                <a:solidFill>
                  <a:srgbClr val="98C379"/>
                </a:solidFill>
                <a:latin typeface="Courier"/>
              </a:rPr>
              <a:t>title:</a:t>
            </a:r>
            <a:r>
              <a:rPr i="1">
                <a:solidFill>
                  <a:srgbClr val="5C6370"/>
                </a:solidFill>
                <a:latin typeface="Courier"/>
              </a:rPr>
              <a:t> "Estudio Regional"</a:t>
            </a:r>
            <a:br/>
            <a:r>
              <a:rPr>
                <a:solidFill>
                  <a:srgbClr val="98C379"/>
                </a:solidFill>
                <a:latin typeface="Courier"/>
              </a:rPr>
              <a:t>params: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  region: "Metropolitana"     ← parámetro configurable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  año: 2025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  umbral_promotor: 50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---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Los parámetros se vuelven </a:t>
            </a:r>
            <a:r>
              <a:rPr b="1"/>
              <a:t>variables</a:t>
            </a:r>
            <a:r>
              <a:rPr/>
              <a:t> dentro del documento, accesibles como </a:t>
            </a:r>
            <a:r>
              <a:rPr>
                <a:latin typeface="Courier"/>
              </a:rPr>
              <a:t>params$region</a:t>
            </a:r>
            <a:r>
              <a:rPr/>
              <a:t>, </a:t>
            </a:r>
            <a:r>
              <a:rPr>
                <a:latin typeface="Courier"/>
              </a:rPr>
              <a:t>params$año</a:t>
            </a:r>
            <a:r>
              <a:rPr/>
              <a:t>, etc.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Quarto con parámetros: cómo se usan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solidFill>
                  <a:srgbClr val="61AFEF"/>
                </a:solidFill>
                <a:latin typeface="Courier"/>
              </a:rPr>
              <a:t>## Región: `{r} params$region`</a:t>
            </a:r>
            <a:br/>
            <a:br/>
            <a:r>
              <a:rPr>
                <a:solidFill>
                  <a:srgbClr val="C45B00"/>
                </a:solidFill>
                <a:latin typeface="Courier"/>
              </a:rPr>
              <a:t>```{r}</a:t>
            </a:r>
            <a:br/>
            <a:r>
              <a:rPr>
                <a:solidFill>
                  <a:srgbClr val="ABB2BF"/>
                </a:solidFill>
                <a:latin typeface="Courier"/>
              </a:rPr>
              <a:t>datos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clientes </a:t>
            </a:r>
            <a:r>
              <a:rPr>
                <a:solidFill>
                  <a:srgbClr val="56B6C2"/>
                </a:solidFill>
                <a:latin typeface="Courier"/>
              </a:rPr>
              <a:t>|&gt;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filter</a:t>
            </a:r>
            <a:r>
              <a:rPr>
                <a:solidFill>
                  <a:srgbClr val="ABB2BF"/>
                </a:solidFill>
                <a:latin typeface="Courier"/>
              </a:rPr>
              <a:t>(region </a:t>
            </a:r>
            <a:r>
              <a:rPr>
                <a:solidFill>
                  <a:srgbClr val="56B6C2"/>
                </a:solidFill>
                <a:latin typeface="Courier"/>
              </a:rPr>
              <a:t>==</a:t>
            </a:r>
            <a:r>
              <a:rPr>
                <a:solidFill>
                  <a:srgbClr val="ABB2BF"/>
                </a:solidFill>
                <a:latin typeface="Courier"/>
              </a:rPr>
              <a:t> params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region, year </a:t>
            </a:r>
            <a:r>
              <a:rPr>
                <a:solidFill>
                  <a:srgbClr val="56B6C2"/>
                </a:solidFill>
                <a:latin typeface="Courier"/>
              </a:rPr>
              <a:t>==</a:t>
            </a:r>
            <a:r>
              <a:rPr>
                <a:solidFill>
                  <a:srgbClr val="ABB2BF"/>
                </a:solidFill>
                <a:latin typeface="Courier"/>
              </a:rPr>
              <a:t> params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año)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nps_promedio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mean</a:t>
            </a:r>
            <a:r>
              <a:rPr>
                <a:solidFill>
                  <a:srgbClr val="ABB2BF"/>
                </a:solidFill>
                <a:latin typeface="Courier"/>
              </a:rPr>
              <a:t>(datos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nps, </a:t>
            </a:r>
            <a:r>
              <a:rPr>
                <a:solidFill>
                  <a:srgbClr val="C678DD"/>
                </a:solidFill>
                <a:latin typeface="Courier"/>
              </a:rPr>
              <a:t>na.rm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D19A66"/>
                </a:solidFill>
                <a:latin typeface="Courier"/>
              </a:rPr>
              <a:t>TRUE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r>
              <a:rPr>
                <a:solidFill>
                  <a:srgbClr val="C45B00"/>
                </a:solidFill>
                <a:latin typeface="Courier"/>
              </a:rPr>
              <a:t>```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El NPS promedio en **`{r} params$region`** es **`{r} round(nps_promedio, 1)`**.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El umbral para clasificar Promotores es </a:t>
            </a:r>
            <a:r>
              <a:rPr>
                <a:solidFill>
                  <a:srgbClr val="C45B00"/>
                </a:solidFill>
                <a:latin typeface="Courier"/>
              </a:rPr>
              <a:t>`{r} params$umbral_promotor`</a:t>
            </a:r>
            <a:r>
              <a:rPr>
                <a:solidFill>
                  <a:srgbClr val="ABB2BF"/>
                </a:solidFill>
                <a:latin typeface="Courier"/>
              </a:rPr>
              <a:t>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El mismo documento</a:t>
            </a:r>
            <a:r>
              <a:rPr/>
              <a:t> produce un reporte distinto para cada combinación de parámetros.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Generar todos los reportes con un loop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solidFill>
                  <a:srgbClr val="61AFEF"/>
                </a:solidFill>
                <a:latin typeface="Courier"/>
              </a:rPr>
              <a:t>library</a:t>
            </a:r>
            <a:r>
              <a:rPr>
                <a:solidFill>
                  <a:srgbClr val="ABB2BF"/>
                </a:solidFill>
                <a:latin typeface="Courier"/>
              </a:rPr>
              <a:t>(quarto)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regiones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unique</a:t>
            </a:r>
            <a:r>
              <a:rPr>
                <a:solidFill>
                  <a:srgbClr val="ABB2BF"/>
                </a:solidFill>
                <a:latin typeface="Courier"/>
              </a:rPr>
              <a:t>(clientes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region)</a:t>
            </a:r>
            <a:br/>
            <a:br/>
            <a:r>
              <a:rPr>
                <a:solidFill>
                  <a:srgbClr val="C678DD"/>
                </a:solidFill>
                <a:latin typeface="Courier"/>
              </a:rPr>
              <a:t>for</a:t>
            </a:r>
            <a:r>
              <a:rPr>
                <a:solidFill>
                  <a:srgbClr val="ABB2BF"/>
                </a:solidFill>
                <a:latin typeface="Courier"/>
              </a:rPr>
              <a:t> (r </a:t>
            </a:r>
            <a:r>
              <a:rPr>
                <a:solidFill>
                  <a:srgbClr val="C678DD"/>
                </a:solidFill>
                <a:latin typeface="Courier"/>
              </a:rPr>
              <a:t>in</a:t>
            </a:r>
            <a:r>
              <a:rPr>
                <a:solidFill>
                  <a:srgbClr val="ABB2BF"/>
                </a:solidFill>
                <a:latin typeface="Courier"/>
              </a:rPr>
              <a:t> regiones) {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quarto_render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</a:t>
            </a:r>
            <a:r>
              <a:rPr>
                <a:solidFill>
                  <a:srgbClr val="C678DD"/>
                </a:solidFill>
                <a:latin typeface="Courier"/>
              </a:rPr>
              <a:t>input         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98C379"/>
                </a:solidFill>
                <a:latin typeface="Courier"/>
              </a:rPr>
              <a:t>"docs/reporte_regional.qmd"</a:t>
            </a:r>
            <a:r>
              <a:rPr>
                <a:solidFill>
                  <a:srgbClr val="ABB2BF"/>
                </a:solidFill>
                <a:latin typeface="Courier"/>
              </a:rPr>
              <a:t>,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</a:t>
            </a:r>
            <a:r>
              <a:rPr>
                <a:solidFill>
                  <a:srgbClr val="C678DD"/>
                </a:solidFill>
                <a:latin typeface="Courier"/>
              </a:rPr>
              <a:t>execute_params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list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C678DD"/>
                </a:solidFill>
                <a:latin typeface="Courier"/>
              </a:rPr>
              <a:t>region =</a:t>
            </a:r>
            <a:r>
              <a:rPr>
                <a:solidFill>
                  <a:srgbClr val="ABB2BF"/>
                </a:solidFill>
                <a:latin typeface="Courier"/>
              </a:rPr>
              <a:t> r, año </a:t>
            </a:r>
            <a:r>
              <a:rPr>
                <a:solidFill>
                  <a:srgbClr val="27AE60"/>
                </a:solidFill>
                <a:latin typeface="Courier"/>
              </a:rPr>
              <a:t>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D19A66"/>
                </a:solidFill>
                <a:latin typeface="Courier"/>
              </a:rPr>
              <a:t>2025</a:t>
            </a:r>
            <a:r>
              <a:rPr>
                <a:solidFill>
                  <a:srgbClr val="ABB2BF"/>
                </a:solidFill>
                <a:latin typeface="Courier"/>
              </a:rPr>
              <a:t>),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</a:t>
            </a:r>
            <a:r>
              <a:rPr>
                <a:solidFill>
                  <a:srgbClr val="C678DD"/>
                </a:solidFill>
                <a:latin typeface="Courier"/>
              </a:rPr>
              <a:t>output_file   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paste0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"reporte_"</a:t>
            </a:r>
            <a:r>
              <a:rPr>
                <a:solidFill>
                  <a:srgbClr val="ABB2BF"/>
                </a:solidFill>
                <a:latin typeface="Courier"/>
              </a:rPr>
              <a:t>, </a:t>
            </a:r>
            <a:r>
              <a:rPr>
                <a:solidFill>
                  <a:srgbClr val="61AFEF"/>
                </a:solidFill>
                <a:latin typeface="Courier"/>
              </a:rPr>
              <a:t>tolower</a:t>
            </a:r>
            <a:r>
              <a:rPr>
                <a:solidFill>
                  <a:srgbClr val="ABB2BF"/>
                </a:solidFill>
                <a:latin typeface="Courier"/>
              </a:rPr>
              <a:t>(r), </a:t>
            </a:r>
            <a:r>
              <a:rPr>
                <a:solidFill>
                  <a:srgbClr val="98C379"/>
                </a:solidFill>
                <a:latin typeface="Courier"/>
              </a:rPr>
              <a:t>".html"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Output:</a:t>
            </a:r>
          </a:p>
          <a:p>
            <a:pPr lvl="0" indent="0">
              <a:buNone/>
            </a:pPr>
            <a:r>
              <a:rPr>
                <a:latin typeface="Courier"/>
              </a:rPr>
              <a:t>✓ reporte_metropolitana.html
✓ reporte_valparaíso.html
✓ reporte_biobío.html
✓ reporte_antofagasta.html
✓ reporte_araucanía.html
✓ reporte_los_lagos.html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Cuando lleguen los datos de junio, corres el mismo loop.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IA en el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Asistencia dentro del pipeline, no fuera de él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¿Qué problema resuelve?</a:t>
            </a:r>
          </a:p>
          <a:p>
            <a:pPr lvl="0" indent="0" marL="0">
              <a:buNone/>
            </a:pP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🩺 Problema:</a:t>
            </a:r>
            <a:r>
              <a:rPr sz="2000"/>
              <a:t> </a:t>
            </a:r>
            <a:r>
              <a:rPr sz="2000" i="1"/>
              <a:t>“me quedé pegado con un bug y voy a perder 2 horas googleando”</a:t>
            </a:r>
            <a:r>
              <a:rPr sz="2000"/>
              <a:t>, </a:t>
            </a:r>
            <a:r>
              <a:rPr sz="2000" i="1"/>
              <a:t>“necesito hacer que el código corra pero no tengo tiempo”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Asistentes como </a:t>
            </a:r>
            <a:r>
              <a:rPr b="1"/>
              <a:t>Claude Code</a:t>
            </a:r>
            <a:r>
              <a:rPr/>
              <a:t>, </a:t>
            </a:r>
            <a:r>
              <a:rPr b="1"/>
              <a:t>GitHub Copilot</a:t>
            </a:r>
            <a:r>
              <a:rPr/>
              <a:t> o </a:t>
            </a:r>
            <a:r>
              <a:rPr b="1"/>
              <a:t>Cursor</a:t>
            </a:r>
            <a:r>
              <a:rPr/>
              <a:t> se integran al workflow.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No reemplazan el pipeline — operan dentro de él.</a:t>
            </a:r>
          </a:p>
          <a:p>
            <a:pPr lvl="0"/>
            <a:r>
              <a:rPr/>
              <a:t>Leen tu código y entienden el contexto</a:t>
            </a:r>
          </a:p>
          <a:p>
            <a:pPr lvl="0"/>
            <a:r>
              <a:rPr/>
              <a:t>Sugieren correcciones, refactorizaciones, tests</a:t>
            </a:r>
          </a:p>
          <a:p>
            <a:pPr lvl="0"/>
            <a:r>
              <a:rPr/>
              <a:t>Ejecutan tareas largas (debuggear, generar 6 reportes, etc.)</a:t>
            </a:r>
          </a:p>
          <a:p>
            <a:pPr lvl="0"/>
            <a:r>
              <a:rPr/>
              <a:t>Documentan funciones, escriben READMEs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Dos formas de integrar IA</a:t>
            </a:r>
          </a:p>
          <a:p>
            <a:pPr lvl="0" indent="0" marL="0">
              <a:buNone/>
            </a:pP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Asistente en el IDE</a:t>
            </a:r>
          </a:p>
          <a:p>
            <a:pPr lvl="0"/>
            <a:r>
              <a:rPr/>
              <a:t>Chat dentro de Positron / VS Code</a:t>
            </a:r>
          </a:p>
          <a:p>
            <a:pPr lvl="0"/>
            <a:r>
              <a:rPr/>
              <a:t>Accede al contexto del archivo abierto</a:t>
            </a:r>
          </a:p>
          <a:p>
            <a:pPr lvl="0"/>
            <a:r>
              <a:rPr/>
              <a:t>Ideal para </a:t>
            </a:r>
            <a:r>
              <a:rPr b="1"/>
              <a:t>debugging interactivo</a:t>
            </a:r>
          </a:p>
          <a:p>
            <a:pPr lvl="0"/>
            <a:r>
              <a:rPr/>
              <a:t>Sugerencias mientras escribís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El principio que no cambia</a:t>
            </a:r>
          </a:p>
          <a:p>
            <a:pPr lvl="0" indent="0" marL="0">
              <a:buNone/>
            </a:pP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La IA </a:t>
            </a:r>
            <a:r>
              <a:rPr sz="2000" b="1"/>
              <a:t>opera dentro</a:t>
            </a:r>
            <a:r>
              <a:rPr sz="2000"/>
              <a:t> del pipeline. No lo define. No lo reemplaza.</a:t>
            </a:r>
          </a:p>
          <a:p>
            <a:pPr lvl="0" indent="0" marL="1270000">
              <a:buNone/>
            </a:pPr>
            <a:r>
              <a:rPr sz="2000"/>
              <a:t>Un buen pipeline hace que la IA:</a:t>
            </a:r>
          </a:p>
          <a:p>
            <a:pPr lvl="0"/>
            <a:r>
              <a:rPr sz="2000" b="1"/>
              <a:t>Funcione mejor</a:t>
            </a:r>
            <a:r>
              <a:rPr sz="2000"/>
              <a:t> — el contexto está claro (estructura, README)</a:t>
            </a:r>
          </a:p>
          <a:p>
            <a:pPr lvl="0"/>
            <a:r>
              <a:rPr sz="2000" b="1"/>
              <a:t>Sea auditable</a:t>
            </a:r>
            <a:r>
              <a:rPr sz="2000"/>
              <a:t> — se ve exactamente qué hizo (GitHub)</a:t>
            </a:r>
          </a:p>
          <a:p>
            <a:pPr lvl="0"/>
            <a:r>
              <a:rPr sz="2000" b="1"/>
              <a:t>No genere caos</a:t>
            </a:r>
            <a:r>
              <a:rPr sz="2000"/>
              <a:t> — los cambios se rastrean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La IA es </a:t>
            </a:r>
            <a:r>
              <a:rPr b="1"/>
              <a:t>una herramienta más</a:t>
            </a:r>
            <a:r>
              <a:rPr/>
              <a:t> en tu toolkit, no el toolkit completo.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Todo junto · un ejemplo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Recapitulación con un caso concreto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La situación</a:t>
            </a:r>
          </a:p>
          <a:p>
            <a:pPr lvl="0" indent="0" marL="0">
              <a:buNone/>
            </a:pPr>
          </a:p>
          <a:p>
            <a:pPr lvl="0" indent="0" marL="1270000">
              <a:buNone/>
            </a:pPr>
            <a:r>
              <a:rPr sz="2000" b="1"/>
              <a:t>Lunes a las 9am</a:t>
            </a:r>
          </a:p>
          <a:p>
            <a:pPr lvl="0" indent="0" marL="1270000">
              <a:buNone/>
            </a:pPr>
            <a:r>
              <a:rPr sz="2000"/>
              <a:t>El cliente envía la encuesta NPS de mayo de </a:t>
            </a:r>
            <a:r>
              <a:rPr sz="2000" b="1"/>
              <a:t>150 empresas en 6 regiones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/>
              <a:t>Quiere:</a:t>
            </a:r>
          </a:p>
          <a:p>
            <a:pPr lvl="0"/>
            <a:r>
              <a:rPr sz="2000"/>
              <a:t>Un </a:t>
            </a:r>
            <a:r>
              <a:rPr sz="2000" b="1"/>
              <a:t>reporte general</a:t>
            </a:r>
            <a:r>
              <a:rPr sz="2000"/>
              <a:t> con el NPS global</a:t>
            </a:r>
          </a:p>
          <a:p>
            <a:pPr lvl="0"/>
            <a:r>
              <a:rPr sz="2000"/>
              <a:t>Un </a:t>
            </a:r>
            <a:r>
              <a:rPr sz="2000" b="1"/>
              <a:t>reporte por región</a:t>
            </a:r>
            <a:r>
              <a:rPr sz="2000"/>
              <a:t> (6 documentos)</a:t>
            </a:r>
          </a:p>
          <a:p>
            <a:pPr lvl="0"/>
            <a:r>
              <a:rPr sz="2000"/>
              <a:t>Todo en </a:t>
            </a:r>
            <a:r>
              <a:rPr sz="2000" b="1"/>
              <a:t>HTML</a:t>
            </a:r>
            <a:r>
              <a:rPr sz="2000"/>
              <a:t> para subir a su intranet</a:t>
            </a:r>
          </a:p>
          <a:p>
            <a:pPr lvl="0"/>
            <a:r>
              <a:rPr sz="2000"/>
              <a:t>Para el </a:t>
            </a:r>
            <a:r>
              <a:rPr sz="2000" b="1"/>
              <a:t>viernes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Veamos cómo se ve este trabajo con un buen workflow.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Paso 0 · La estructura ya existe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📁 estudio_nps_2025/
├── data/
│   ├── raw/                  ← acá pega la encuesta de mayo
│   └── clean/
├── code/
│   ├── 01_clean.R
│   ├── 02_analysis.R
│   └── 03_render_reportes.R
├── docs/
│   ├── reporte_general.qmd
│   └── reporte_regional.qmd   ← parametrizado por región
├── output/
└── README.md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Ya está armado de proyectos anteriores.</a:t>
            </a:r>
            <a:r>
              <a:rPr/>
              <a:t> No empieza desde cero.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Paso 1 · Datos crudos al lugar correcto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Copio el archivo del cliente a </a:t>
            </a:r>
            <a:r>
              <a:rPr>
                <a:latin typeface="Courier"/>
              </a:rPr>
              <a:t>data/raw/</a:t>
            </a:r>
          </a:p>
          <a:p>
            <a:pPr lvl="0" indent="-342900" marL="342900">
              <a:buAutoNum type="arabicPeriod"/>
            </a:pPr>
            <a:r>
              <a:rPr/>
              <a:t>Desde Positron, hago un </a:t>
            </a:r>
            <a:r>
              <a:rPr b="1"/>
              <a:t>commit</a:t>
            </a:r>
            <a:r>
              <a:rPr/>
              <a:t> con el mensaje:</a:t>
            </a:r>
            <a:br/>
            <a:r>
              <a:rPr i="1"/>
              <a:t>“data: agregar encuesta mayo 2025”</a:t>
            </a:r>
          </a:p>
          <a:p>
            <a:pPr lvl="0" indent="-342900" marL="342900">
              <a:buAutoNum type="arabicPeriod"/>
            </a:pPr>
            <a:r>
              <a:rPr/>
              <a:t>Hago </a:t>
            </a:r>
            <a:r>
              <a:rPr b="1"/>
              <a:t>push</a:t>
            </a:r>
            <a:r>
              <a:rPr/>
              <a:t> para subirlo a GitHub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🛠️ </a:t>
            </a:r>
            <a:r>
              <a:rPr b="1"/>
              <a:t>Herramientas usadas:</a:t>
            </a:r>
            <a:r>
              <a:rPr/>
              <a:t> estructura de carpetas (raw/), GitHub (respaldo + trazabilidad).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El archivo queda intocado en </a:t>
            </a:r>
            <a:r>
              <a:rPr sz="2000">
                <a:latin typeface="Courier"/>
              </a:rPr>
              <a:t>data/raw/</a:t>
            </a:r>
            <a:r>
              <a:rPr sz="2000"/>
              <a:t>. Nunca se edita a mano.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Paso 2 · Limpieza vía script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5C6370"/>
                </a:solidFill>
                <a:latin typeface="Courier"/>
              </a:rPr>
              <a:t># code/01_clean.R</a:t>
            </a:r>
            <a:br/>
            <a:r>
              <a:rPr>
                <a:solidFill>
                  <a:srgbClr val="61AFEF"/>
                </a:solidFill>
                <a:latin typeface="Courier"/>
              </a:rPr>
              <a:t>library</a:t>
            </a:r>
            <a:r>
              <a:rPr>
                <a:solidFill>
                  <a:srgbClr val="ABB2BF"/>
                </a:solidFill>
                <a:latin typeface="Courier"/>
              </a:rPr>
              <a:t>(tidyverse)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raw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read_csv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"data/raw/encuesta_mayo_2025.csv"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clean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raw </a:t>
            </a:r>
            <a:r>
              <a:rPr>
                <a:solidFill>
                  <a:srgbClr val="56B6C2"/>
                </a:solidFill>
                <a:latin typeface="Courier"/>
              </a:rPr>
              <a:t>|&gt;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filter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56B6C2"/>
                </a:solidFill>
                <a:latin typeface="Courier"/>
              </a:rPr>
              <a:t>!</a:t>
            </a:r>
            <a:r>
              <a:rPr>
                <a:solidFill>
                  <a:srgbClr val="61AFEF"/>
                </a:solidFill>
                <a:latin typeface="Courier"/>
              </a:rPr>
              <a:t>is.na</a:t>
            </a:r>
            <a:r>
              <a:rPr>
                <a:solidFill>
                  <a:srgbClr val="ABB2BF"/>
                </a:solidFill>
                <a:latin typeface="Courier"/>
              </a:rPr>
              <a:t>(nps)) </a:t>
            </a:r>
            <a:r>
              <a:rPr>
                <a:solidFill>
                  <a:srgbClr val="56B6C2"/>
                </a:solidFill>
                <a:latin typeface="Courier"/>
              </a:rPr>
              <a:t>|&gt;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mutate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</a:t>
            </a:r>
            <a:r>
              <a:rPr>
                <a:solidFill>
                  <a:srgbClr val="C678DD"/>
                </a:solidFill>
                <a:latin typeface="Courier"/>
              </a:rPr>
              <a:t>nps_grupo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case_when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  nps </a:t>
            </a:r>
            <a:r>
              <a:rPr>
                <a:solidFill>
                  <a:srgbClr val="56B6C2"/>
                </a:solidFill>
                <a:latin typeface="Courier"/>
              </a:rPr>
              <a:t>&lt;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D19A66"/>
                </a:solidFill>
                <a:latin typeface="Courier"/>
              </a:rPr>
              <a:t>0</a:t>
            </a:r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56B6C2"/>
                </a:solidFill>
                <a:latin typeface="Courier"/>
              </a:rPr>
              <a:t>~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98C379"/>
                </a:solidFill>
                <a:latin typeface="Courier"/>
              </a:rPr>
              <a:t>"Detractor"</a:t>
            </a:r>
            <a:r>
              <a:rPr>
                <a:solidFill>
                  <a:srgbClr val="ABB2BF"/>
                </a:solidFill>
                <a:latin typeface="Courier"/>
              </a:rPr>
              <a:t>,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  nps </a:t>
            </a:r>
            <a:r>
              <a:rPr>
                <a:solidFill>
                  <a:srgbClr val="56B6C2"/>
                </a:solidFill>
                <a:latin typeface="Courier"/>
              </a:rPr>
              <a:t>&lt;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D19A66"/>
                </a:solidFill>
                <a:latin typeface="Courier"/>
              </a:rPr>
              <a:t>50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56B6C2"/>
                </a:solidFill>
                <a:latin typeface="Courier"/>
              </a:rPr>
              <a:t>~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98C379"/>
                </a:solidFill>
                <a:latin typeface="Courier"/>
              </a:rPr>
              <a:t>"Pasivo"</a:t>
            </a:r>
            <a:r>
              <a:rPr>
                <a:solidFill>
                  <a:srgbClr val="ABB2BF"/>
                </a:solidFill>
                <a:latin typeface="Courier"/>
              </a:rPr>
              <a:t>,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  </a:t>
            </a:r>
            <a:r>
              <a:rPr>
                <a:solidFill>
                  <a:srgbClr val="D19A66"/>
                </a:solidFill>
                <a:latin typeface="Courier"/>
              </a:rPr>
              <a:t>TRUE</a:t>
            </a:r>
            <a:r>
              <a:rPr>
                <a:solidFill>
                  <a:srgbClr val="ABB2BF"/>
                </a:solidFill>
                <a:latin typeface="Courier"/>
              </a:rPr>
              <a:t>     </a:t>
            </a:r>
            <a:r>
              <a:rPr>
                <a:solidFill>
                  <a:srgbClr val="56B6C2"/>
                </a:solidFill>
                <a:latin typeface="Courier"/>
              </a:rPr>
              <a:t>~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98C379"/>
                </a:solidFill>
                <a:latin typeface="Courier"/>
              </a:rPr>
              <a:t>"Promotor"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61AFEF"/>
                </a:solidFill>
                <a:latin typeface="Courier"/>
              </a:rPr>
              <a:t>write_csv</a:t>
            </a:r>
            <a:r>
              <a:rPr>
                <a:solidFill>
                  <a:srgbClr val="ABB2BF"/>
                </a:solidFill>
                <a:latin typeface="Courier"/>
              </a:rPr>
              <a:t>(clean, </a:t>
            </a:r>
            <a:r>
              <a:rPr>
                <a:solidFill>
                  <a:srgbClr val="98C379"/>
                </a:solidFill>
                <a:latin typeface="Courier"/>
              </a:rPr>
              <a:t>"data/clean/clientes.csv"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🛠️ </a:t>
            </a:r>
            <a:r>
              <a:rPr b="1"/>
              <a:t>Herramientas:</a:t>
            </a:r>
            <a:r>
              <a:rPr/>
              <a:t> tidyverse, tidy data, principio raw → clean.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Paso 3 · Reporte regional parametrizado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5C6370"/>
                </a:solidFill>
                <a:latin typeface="Courier"/>
              </a:rPr>
              <a:t>---</a:t>
            </a:r>
            <a:br/>
            <a:r>
              <a:rPr>
                <a:solidFill>
                  <a:srgbClr val="98C379"/>
                </a:solidFill>
                <a:latin typeface="Courier"/>
              </a:rPr>
              <a:t>title:</a:t>
            </a:r>
            <a:r>
              <a:rPr i="1">
                <a:solidFill>
                  <a:srgbClr val="5C6370"/>
                </a:solidFill>
                <a:latin typeface="Courier"/>
              </a:rPr>
              <a:t> "Estudio NPS · `{r} params$region`"</a:t>
            </a:r>
            <a:br/>
            <a:r>
              <a:rPr>
                <a:solidFill>
                  <a:srgbClr val="98C379"/>
                </a:solidFill>
                <a:latin typeface="Courier"/>
              </a:rPr>
              <a:t>format:</a:t>
            </a:r>
            <a:r>
              <a:rPr i="1">
                <a:solidFill>
                  <a:srgbClr val="5C6370"/>
                </a:solidFill>
                <a:latin typeface="Courier"/>
              </a:rPr>
              <a:t> html</a:t>
            </a:r>
            <a:br/>
            <a:r>
              <a:rPr>
                <a:solidFill>
                  <a:srgbClr val="98C379"/>
                </a:solidFill>
                <a:latin typeface="Courier"/>
              </a:rPr>
              <a:t>params: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  region: "Metropolitana"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---</a:t>
            </a:r>
            <a:br/>
            <a:br/>
            <a:r>
              <a:rPr>
                <a:solidFill>
                  <a:srgbClr val="C45B00"/>
                </a:solidFill>
                <a:latin typeface="Courier"/>
              </a:rPr>
              <a:t>```{r}</a:t>
            </a:r>
            <a:br/>
            <a:r>
              <a:rPr>
                <a:solidFill>
                  <a:srgbClr val="61AFEF"/>
                </a:solidFill>
                <a:latin typeface="Courier"/>
              </a:rPr>
              <a:t>library</a:t>
            </a:r>
            <a:r>
              <a:rPr>
                <a:solidFill>
                  <a:srgbClr val="ABB2B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clientes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read_csv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"data/clean/clientes.csv"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datos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clientes </a:t>
            </a:r>
            <a:r>
              <a:rPr>
                <a:solidFill>
                  <a:srgbClr val="56B6C2"/>
                </a:solidFill>
                <a:latin typeface="Courier"/>
              </a:rPr>
              <a:t>|&gt;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filter</a:t>
            </a:r>
            <a:r>
              <a:rPr>
                <a:solidFill>
                  <a:srgbClr val="ABB2BF"/>
                </a:solidFill>
                <a:latin typeface="Courier"/>
              </a:rPr>
              <a:t>(region </a:t>
            </a:r>
            <a:r>
              <a:rPr>
                <a:solidFill>
                  <a:srgbClr val="56B6C2"/>
                </a:solidFill>
                <a:latin typeface="Courier"/>
              </a:rPr>
              <a:t>==</a:t>
            </a:r>
            <a:r>
              <a:rPr>
                <a:solidFill>
                  <a:srgbClr val="ABB2BF"/>
                </a:solidFill>
                <a:latin typeface="Courier"/>
              </a:rPr>
              <a:t> params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region)</a:t>
            </a:r>
            <a:br/>
            <a:r>
              <a:rPr>
                <a:solidFill>
                  <a:srgbClr val="C45B00"/>
                </a:solidFill>
                <a:latin typeface="Courier"/>
              </a:rPr>
              <a:t>```</a:t>
            </a:r>
            <a:br/>
            <a:br/>
            <a:r>
              <a:rPr>
                <a:solidFill>
                  <a:srgbClr val="61AFEF"/>
                </a:solidFill>
                <a:latin typeface="Courier"/>
              </a:rPr>
              <a:t>## Resumen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En **`{r} params$region`** medimos </a:t>
            </a:r>
            <a:r>
              <a:rPr>
                <a:solidFill>
                  <a:srgbClr val="C45B00"/>
                </a:solidFill>
                <a:latin typeface="Courier"/>
              </a:rPr>
              <a:t>`{r} nrow(datos)`</a:t>
            </a:r>
            <a:r>
              <a:rPr>
                <a:solidFill>
                  <a:srgbClr val="ABB2BF"/>
                </a:solidFill>
                <a:latin typeface="Courier"/>
              </a:rPr>
              <a:t> empresas.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El NPS promedio es **`{r} round(mean(datos$nps, na.rm=TRUE), 1)`**.</a:t>
            </a:r>
            <a:br/>
            <a:br/>
            <a:r>
              <a:rPr>
                <a:solidFill>
                  <a:srgbClr val="C45B00"/>
                </a:solidFill>
                <a:latin typeface="Courier"/>
              </a:rPr>
              <a:t>```{r}</a:t>
            </a:r>
            <a:br/>
            <a:r>
              <a:rPr i="1">
                <a:solidFill>
                  <a:srgbClr val="5C6370"/>
                </a:solidFill>
                <a:latin typeface="Courier"/>
              </a:rPr>
              <a:t>#| echo: false</a:t>
            </a:r>
            <a:br/>
            <a:r>
              <a:rPr>
                <a:solidFill>
                  <a:srgbClr val="61AFEF"/>
                </a:solidFill>
                <a:latin typeface="Courier"/>
              </a:rPr>
              <a:t>ggplot</a:t>
            </a:r>
            <a:r>
              <a:rPr>
                <a:solidFill>
                  <a:srgbClr val="ABB2BF"/>
                </a:solidFill>
                <a:latin typeface="Courier"/>
              </a:rPr>
              <a:t>(datos, </a:t>
            </a:r>
            <a:r>
              <a:rPr>
                <a:solidFill>
                  <a:srgbClr val="61AFEF"/>
                </a:solidFill>
                <a:latin typeface="Courier"/>
              </a:rPr>
              <a:t>aes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C678DD"/>
                </a:solidFill>
                <a:latin typeface="Courier"/>
              </a:rPr>
              <a:t>x =</a:t>
            </a:r>
            <a:r>
              <a:rPr>
                <a:solidFill>
                  <a:srgbClr val="ABB2BF"/>
                </a:solidFill>
                <a:latin typeface="Courier"/>
              </a:rPr>
              <a:t> nps_grupo)) </a:t>
            </a:r>
            <a:r>
              <a:rPr>
                <a:solidFill>
                  <a:srgbClr val="56B6C2"/>
                </a:solidFill>
                <a:latin typeface="Courier"/>
              </a:rPr>
              <a:t>+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geom_bar</a:t>
            </a:r>
            <a:r>
              <a:rPr>
                <a:solidFill>
                  <a:srgbClr val="ABB2BF"/>
                </a:solidFill>
                <a:latin typeface="Courier"/>
              </a:rPr>
              <a:t>()</a:t>
            </a:r>
            <a:br/>
            <a:r>
              <a:rPr>
                <a:solidFill>
                  <a:srgbClr val="C45B00"/>
                </a:solidFill>
                <a:latin typeface="Courier"/>
              </a:rPr>
              <a:t>```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🛠️ </a:t>
            </a:r>
            <a:r>
              <a:rPr b="1"/>
              <a:t>Herramientas:</a:t>
            </a:r>
            <a:r>
              <a:rPr/>
              <a:t> Quarto, parámetros, valores inline, chunks.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Paso 4 · Generar los 6 reportes con un loop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5C6370"/>
                </a:solidFill>
                <a:latin typeface="Courier"/>
              </a:rPr>
              <a:t># code/03_render_reportes.R</a:t>
            </a:r>
            <a:br/>
            <a:r>
              <a:rPr>
                <a:solidFill>
                  <a:srgbClr val="61AFEF"/>
                </a:solidFill>
                <a:latin typeface="Courier"/>
              </a:rPr>
              <a:t>library</a:t>
            </a:r>
            <a:r>
              <a:rPr>
                <a:solidFill>
                  <a:srgbClr val="ABB2BF"/>
                </a:solidFill>
                <a:latin typeface="Courier"/>
              </a:rPr>
              <a:t>(quarto)</a:t>
            </a:r>
            <a:br/>
            <a:br/>
            <a:r>
              <a:rPr>
                <a:solidFill>
                  <a:srgbClr val="ABB2BF"/>
                </a:solidFill>
                <a:latin typeface="Courier"/>
              </a:rPr>
              <a:t>clientes </a:t>
            </a:r>
            <a:r>
              <a:rPr>
                <a:solidFill>
                  <a:srgbClr val="27AE60"/>
                </a:solidFill>
                <a:latin typeface="Courier"/>
              </a:rPr>
              <a:t>&lt;-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read_csv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"data/clean/clientes.csv"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C678DD"/>
                </a:solidFill>
                <a:latin typeface="Courier"/>
              </a:rPr>
              <a:t>for</a:t>
            </a:r>
            <a:r>
              <a:rPr>
                <a:solidFill>
                  <a:srgbClr val="ABB2BF"/>
                </a:solidFill>
                <a:latin typeface="Courier"/>
              </a:rPr>
              <a:t> (r </a:t>
            </a:r>
            <a:r>
              <a:rPr>
                <a:solidFill>
                  <a:srgbClr val="C678DD"/>
                </a:solidFill>
                <a:latin typeface="Courier"/>
              </a:rPr>
              <a:t>in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unique</a:t>
            </a:r>
            <a:r>
              <a:rPr>
                <a:solidFill>
                  <a:srgbClr val="ABB2BF"/>
                </a:solidFill>
                <a:latin typeface="Courier"/>
              </a:rPr>
              <a:t>(clientes</a:t>
            </a:r>
            <a:r>
              <a:rPr>
                <a:solidFill>
                  <a:srgbClr val="56B6C2"/>
                </a:solidFill>
                <a:latin typeface="Courier"/>
              </a:rPr>
              <a:t>$</a:t>
            </a:r>
            <a:r>
              <a:rPr>
                <a:solidFill>
                  <a:srgbClr val="ABB2BF"/>
                </a:solidFill>
                <a:latin typeface="Courier"/>
              </a:rPr>
              <a:t>region)) {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</a:t>
            </a:r>
            <a:r>
              <a:rPr>
                <a:solidFill>
                  <a:srgbClr val="61AFEF"/>
                </a:solidFill>
                <a:latin typeface="Courier"/>
              </a:rPr>
              <a:t>quarto_render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</a:t>
            </a:r>
            <a:r>
              <a:rPr>
                <a:solidFill>
                  <a:srgbClr val="C678DD"/>
                </a:solidFill>
                <a:latin typeface="Courier"/>
              </a:rPr>
              <a:t>input         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98C379"/>
                </a:solidFill>
                <a:latin typeface="Courier"/>
              </a:rPr>
              <a:t>"docs/reporte_regional.qmd"</a:t>
            </a:r>
            <a:r>
              <a:rPr>
                <a:solidFill>
                  <a:srgbClr val="ABB2BF"/>
                </a:solidFill>
                <a:latin typeface="Courier"/>
              </a:rPr>
              <a:t>,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</a:t>
            </a:r>
            <a:r>
              <a:rPr>
                <a:solidFill>
                  <a:srgbClr val="C678DD"/>
                </a:solidFill>
                <a:latin typeface="Courier"/>
              </a:rPr>
              <a:t>execute_params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list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C678DD"/>
                </a:solidFill>
                <a:latin typeface="Courier"/>
              </a:rPr>
              <a:t>region =</a:t>
            </a:r>
            <a:r>
              <a:rPr>
                <a:solidFill>
                  <a:srgbClr val="ABB2BF"/>
                </a:solidFill>
                <a:latin typeface="Courier"/>
              </a:rPr>
              <a:t> r),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  </a:t>
            </a:r>
            <a:r>
              <a:rPr>
                <a:solidFill>
                  <a:srgbClr val="C678DD"/>
                </a:solidFill>
                <a:latin typeface="Courier"/>
              </a:rPr>
              <a:t>output_file    =</a:t>
            </a:r>
            <a:r>
              <a:rPr>
                <a:solidFill>
                  <a:srgbClr val="ABB2BF"/>
                </a:solidFill>
                <a:latin typeface="Courier"/>
              </a:rPr>
              <a:t> </a:t>
            </a:r>
            <a:r>
              <a:rPr>
                <a:solidFill>
                  <a:srgbClr val="61AFEF"/>
                </a:solidFill>
                <a:latin typeface="Courier"/>
              </a:rPr>
              <a:t>paste0</a:t>
            </a:r>
            <a:r>
              <a:rPr>
                <a:solidFill>
                  <a:srgbClr val="ABB2BF"/>
                </a:solidFill>
                <a:latin typeface="Courier"/>
              </a:rPr>
              <a:t>(</a:t>
            </a:r>
            <a:r>
              <a:rPr>
                <a:solidFill>
                  <a:srgbClr val="98C379"/>
                </a:solidFill>
                <a:latin typeface="Courier"/>
              </a:rPr>
              <a:t>"reporte_"</a:t>
            </a:r>
            <a:r>
              <a:rPr>
                <a:solidFill>
                  <a:srgbClr val="ABB2BF"/>
                </a:solidFill>
                <a:latin typeface="Courier"/>
              </a:rPr>
              <a:t>, </a:t>
            </a:r>
            <a:r>
              <a:rPr>
                <a:solidFill>
                  <a:srgbClr val="61AFEF"/>
                </a:solidFill>
                <a:latin typeface="Courier"/>
              </a:rPr>
              <a:t>tolower</a:t>
            </a:r>
            <a:r>
              <a:rPr>
                <a:solidFill>
                  <a:srgbClr val="ABB2BF"/>
                </a:solidFill>
                <a:latin typeface="Courier"/>
              </a:rPr>
              <a:t>(r), </a:t>
            </a:r>
            <a:r>
              <a:rPr>
                <a:solidFill>
                  <a:srgbClr val="98C379"/>
                </a:solidFill>
                <a:latin typeface="Courier"/>
              </a:rPr>
              <a:t>".html"</a:t>
            </a:r>
            <a:r>
              <a:rPr>
                <a:solidFill>
                  <a:srgbClr val="ABB2BF"/>
                </a:solidFill>
                <a:latin typeface="Courier"/>
              </a:rPr>
              <a:t>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  )</a:t>
            </a:r>
            <a:br/>
            <a:r>
              <a:rPr>
                <a:solidFill>
                  <a:srgbClr val="ABB2B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🛠️ </a:t>
            </a:r>
            <a:r>
              <a:rPr b="1"/>
              <a:t>Herramientas:</a:t>
            </a:r>
            <a:r>
              <a:rPr/>
              <a:t> iteración (</a:t>
            </a:r>
            <a:r>
              <a:rPr>
                <a:latin typeface="Courier"/>
              </a:rPr>
              <a:t>for</a:t>
            </a:r>
            <a:r>
              <a:rPr/>
              <a:t>), Quarto con parámetros.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~40 segundos</a:t>
            </a:r>
            <a:r>
              <a:rPr/>
              <a:t> después: 6 reportes listos. </a:t>
            </a:r>
            <a:r>
              <a:rPr b="1"/>
              <a:t>Cero copiar-pegar.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Paso 5 · Commit y entrega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Desde Positron, hago </a:t>
            </a:r>
            <a:r>
              <a:rPr b="1"/>
              <a:t>commit</a:t>
            </a:r>
            <a:r>
              <a:rPr/>
              <a:t> con el mensaje:</a:t>
            </a:r>
            <a:br/>
            <a:r>
              <a:rPr i="1"/>
              <a:t>“feat: reportes NPS mayo 2025”</a:t>
            </a:r>
          </a:p>
          <a:p>
            <a:pPr lvl="0" indent="-342900" marL="342900">
              <a:buAutoNum type="arabicPeriod"/>
            </a:pPr>
            <a:r>
              <a:rPr/>
              <a:t>Hago </a:t>
            </a:r>
            <a:r>
              <a:rPr b="1"/>
              <a:t>push</a:t>
            </a:r>
            <a:r>
              <a:rPr/>
              <a:t> para subir todo a GitHub</a:t>
            </a:r>
          </a:p>
          <a:p>
            <a:pPr lvl="0" indent="-342900" marL="342900">
              <a:buAutoNum type="arabicPeriod"/>
            </a:pPr>
            <a:r>
              <a:rPr/>
              <a:t>Comparto el link de los reportes con el cliente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🛠️ </a:t>
            </a:r>
            <a:r>
              <a:rPr b="1"/>
              <a:t>Herramientas:</a:t>
            </a:r>
            <a:r>
              <a:rPr/>
              <a:t> GitHub (snapshot del trabajo + respaldo en la nube).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Si el cliente pide cambios el jueves, </a:t>
            </a:r>
            <a:r>
              <a:rPr sz="2000" b="1"/>
              <a:t>todo el pipeline corre de nuevo en ~1 minuto.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¿Qué pasó en el camino?</a:t>
            </a:r>
          </a:p>
          <a:p>
            <a:pPr lvl="0" indent="0" marL="0">
              <a:buNone/>
            </a:p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5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Tiempo 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Con workflow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Limpiar datos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~1 hora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 seg (correr script)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Generar 6 reportes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~3 horas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40 seg (loop)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Detectar un error y arreglar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~2 horas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 min (cambiar línea + re-render)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Documentar qué se hizo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~30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ya está en el código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~7 horas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~5 min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Y cuando llegue la encuesta de junio:</a:t>
            </a:r>
            <a:r>
              <a:rPr/>
              <a:t> mismo flujo, mismo tiempo.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El cliente recibe lo mismo. Tú hiciste 80 veces menos trabajo.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Cierre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Los 5 hábitos que importan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Estructura ANTES de código</a:t>
            </a:r>
            <a:r>
              <a:rPr/>
              <a:t> — el mismo patrón en cada proyecto</a:t>
            </a:r>
          </a:p>
          <a:p>
            <a:pPr lvl="0" indent="-342900" marL="342900">
              <a:buAutoNum type="arabicPeriod"/>
            </a:pPr>
            <a:r>
              <a:rPr b="1"/>
              <a:t>Datos crudos intocables</a:t>
            </a:r>
            <a:r>
              <a:rPr/>
              <a:t> — si cambia algo, lo hace el código</a:t>
            </a:r>
          </a:p>
          <a:p>
            <a:pPr lvl="0" indent="-342900" marL="342900">
              <a:buAutoNum type="arabicPeriod"/>
            </a:pPr>
            <a:r>
              <a:rPr b="1"/>
              <a:t>Outputs siempre generados por código</a:t>
            </a:r>
            <a:r>
              <a:rPr/>
              <a:t> — nunca a mano</a:t>
            </a:r>
          </a:p>
          <a:p>
            <a:pPr lvl="0" indent="-342900" marL="342900">
              <a:buAutoNum type="arabicPeriod"/>
            </a:pPr>
            <a:r>
              <a:rPr b="1"/>
              <a:t>Commits frecuentes</a:t>
            </a:r>
            <a:r>
              <a:rPr/>
              <a:t> con mensajes descriptivos</a:t>
            </a:r>
          </a:p>
          <a:p>
            <a:pPr lvl="0" indent="-342900" marL="342900">
              <a:buAutoNum type="arabicPeriod"/>
            </a:pPr>
            <a:r>
              <a:rPr b="1"/>
              <a:t>Documentación</a:t>
            </a:r>
            <a:r>
              <a:rPr/>
              <a:t> como parte del flujo, no al final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Checklist antes de enviar un análisis</a:t>
            </a:r>
          </a:p>
          <a:p>
            <a:pPr lvl="0" indent="0" marL="0">
              <a:buNone/>
            </a:pPr>
          </a:p>
          <a:p>
            <a:pPr lvl="0"/>
            <a:r>
              <a:rPr/>
              <a:t>☐ ¿Puedo reproducir TODO con un solo comando?</a:t>
            </a:r>
          </a:p>
          <a:p>
            <a:pPr lvl="0"/>
            <a:r>
              <a:rPr/>
              <a:t>☐ ¿Un colega puede clonarlo y correrlo?</a:t>
            </a:r>
          </a:p>
          <a:p>
            <a:pPr lvl="0"/>
            <a:r>
              <a:rPr/>
              <a:t>☐ ¿Está documentado de dónde vienen los datos?</a:t>
            </a:r>
          </a:p>
          <a:p>
            <a:pPr lvl="0"/>
            <a:r>
              <a:rPr/>
              <a:t>☐ ¿Está claro qué decisiones tomé (filtros, transformaciones)?</a:t>
            </a:r>
          </a:p>
          <a:p>
            <a:pPr lvl="0"/>
            <a:r>
              <a:rPr/>
              <a:t>☐ ¿Los gráficos y tablas se generan con código?</a:t>
            </a:r>
          </a:p>
          <a:p>
            <a:pPr lvl="0"/>
            <a:r>
              <a:rPr/>
              <a:t>☐ ¿Hay un README?</a:t>
            </a:r>
          </a:p>
          <a:p>
            <a:pPr lvl="0"/>
            <a:r>
              <a:rPr/>
              <a:t>☐ ¿El proyecto está versionado en GitHub?</a:t>
            </a:r>
          </a:p>
          <a:p>
            <a:pPr lvl="0"/>
            <a:r>
              <a:rPr/>
              <a:t>☐ ¿Si cambian los datos, puedo señalar exactamente dónde cambió cada número?</a:t>
            </a:r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Mauricio Bucca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mebucca.github.io</a:t>
            </a:r>
            <a:r>
              <a:rPr/>
              <a:t> · </a:t>
            </a:r>
            <a:r>
              <a:rPr>
                <a:hlinkClick r:id="rId3"/>
              </a:rPr>
              <a:t>github.com/mebucca</a:t>
            </a:r>
          </a:p>
          <a:p>
            <a:pPr lvl="0" indent="0" marL="0">
              <a:buNone/>
            </a:pPr>
            <a:r>
              <a:rPr>
                <a:hlinkClick r:id="rId4"/>
              </a:rPr>
              <a:t>mebucca@gmail.com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DobleAA LAB</a:t>
            </a:r>
          </a:p>
          <a:p>
            <a:pPr lvl="0" indent="0" marL="0">
              <a:buNone/>
            </a:pPr>
            <a:r>
              <a:rPr i="1"/>
              <a:t>19 de mayo, 2025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Producción y Análisis de Datos</dc:title>
  <dc:creator>Mauricio Bucca · Sociología UC · DobleA</dc:creator>
  <cp:keywords/>
  <dcterms:created xsi:type="dcterms:W3CDTF">2026-05-17T23:26:00Z</dcterms:created>
  <dcterms:modified xsi:type="dcterms:W3CDTF">2026-05-17T23:26:00Z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19 de mayo, 2025</vt:lpwstr>
  </property>
  <property fmtid="{D5CDD505-2E9C-101B-9397-08002B2CF9AE}" pid="6" name="date-format">
    <vt:lpwstr>D [de] MMMM[,] 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subtitle">
    <vt:lpwstr>La importancia del workflow</vt:lpwstr>
  </property>
  <property fmtid="{D5CDD505-2E9C-101B-9397-08002B2CF9AE}" pid="13" name="toc-title">
    <vt:lpwstr>Tabla de contenidos</vt:lpwstr>
  </property>
</Properties>
</file>